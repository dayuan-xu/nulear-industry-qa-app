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7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B5B339-AB57-4A78-9082-E5C0D89B901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B8878C0-62BD-4B08-8494-1CA69B3FFFA3}">
      <dgm:prSet phldrT="[文本]"/>
      <dgm:spPr/>
      <dgm:t>
        <a:bodyPr/>
        <a:lstStyle/>
        <a:p>
          <a:r>
            <a:rPr lang="zh-CN" altLang="en-US"/>
            <a:t>项目背景和方案选择</a:t>
          </a:r>
        </a:p>
      </dgm:t>
    </dgm:pt>
    <dgm:pt modelId="{6B07DBD2-D33D-4B5C-9825-176F3A4E9418}" type="parTrans" cxnId="{CD447806-5427-43A3-B91E-4D5B8DB561ED}">
      <dgm:prSet/>
      <dgm:spPr/>
      <dgm:t>
        <a:bodyPr/>
        <a:lstStyle/>
        <a:p>
          <a:endParaRPr lang="zh-CN" altLang="en-US"/>
        </a:p>
      </dgm:t>
    </dgm:pt>
    <dgm:pt modelId="{95D969C6-6EE9-4BA7-AE9E-B690AAA61AE7}" type="sibTrans" cxnId="{CD447806-5427-43A3-B91E-4D5B8DB561ED}">
      <dgm:prSet/>
      <dgm:spPr/>
      <dgm:t>
        <a:bodyPr/>
        <a:lstStyle/>
        <a:p>
          <a:endParaRPr lang="zh-CN" altLang="en-US"/>
        </a:p>
      </dgm:t>
    </dgm:pt>
    <dgm:pt modelId="{9011BD98-AB4C-4869-9684-3F8C1FFA78FD}">
      <dgm:prSet phldrT="[文本]"/>
      <dgm:spPr/>
      <dgm:t>
        <a:bodyPr/>
        <a:lstStyle/>
        <a:p>
          <a:r>
            <a:rPr lang="en-US" altLang="zh-CN"/>
            <a:t>RAG</a:t>
          </a:r>
          <a:r>
            <a:rPr lang="zh-CN" altLang="en-US"/>
            <a:t>流程和</a:t>
          </a:r>
          <a:r>
            <a:rPr lang="en-US" altLang="zh-CN"/>
            <a:t>LangChain</a:t>
          </a:r>
          <a:r>
            <a:rPr lang="zh-CN" altLang="en-US"/>
            <a:t>简介</a:t>
          </a:r>
        </a:p>
      </dgm:t>
    </dgm:pt>
    <dgm:pt modelId="{1C9C639F-7203-4A61-9CA1-F34C7E8DD3CD}" type="parTrans" cxnId="{84D5E278-07E5-4047-8A89-1FB4E9D63177}">
      <dgm:prSet/>
      <dgm:spPr/>
      <dgm:t>
        <a:bodyPr/>
        <a:lstStyle/>
        <a:p>
          <a:endParaRPr lang="zh-CN" altLang="en-US"/>
        </a:p>
      </dgm:t>
    </dgm:pt>
    <dgm:pt modelId="{12CD7B51-1F01-4358-94D5-D7FF20739725}" type="sibTrans" cxnId="{84D5E278-07E5-4047-8A89-1FB4E9D63177}">
      <dgm:prSet/>
      <dgm:spPr/>
      <dgm:t>
        <a:bodyPr/>
        <a:lstStyle/>
        <a:p>
          <a:endParaRPr lang="zh-CN" altLang="en-US"/>
        </a:p>
      </dgm:t>
    </dgm:pt>
    <dgm:pt modelId="{2DD6BD87-3AFB-4A84-BC70-7F8BA50C81E5}">
      <dgm:prSet phldrT="[文本]"/>
      <dgm:spPr/>
      <dgm:t>
        <a:bodyPr/>
        <a:lstStyle/>
        <a:p>
          <a:r>
            <a:rPr lang="zh-CN" altLang="en-US"/>
            <a:t>项目计划和预期成果</a:t>
          </a:r>
        </a:p>
      </dgm:t>
    </dgm:pt>
    <dgm:pt modelId="{9452D5E8-DF74-44F1-89C9-A1482028A15C}" type="parTrans" cxnId="{6367CE45-03DF-453C-9680-34E3B636A53F}">
      <dgm:prSet/>
      <dgm:spPr/>
      <dgm:t>
        <a:bodyPr/>
        <a:lstStyle/>
        <a:p>
          <a:endParaRPr lang="zh-CN" altLang="en-US"/>
        </a:p>
      </dgm:t>
    </dgm:pt>
    <dgm:pt modelId="{88A7218F-8000-418A-B4BE-D2B5E3DE3906}" type="sibTrans" cxnId="{6367CE45-03DF-453C-9680-34E3B636A53F}">
      <dgm:prSet/>
      <dgm:spPr/>
      <dgm:t>
        <a:bodyPr/>
        <a:lstStyle/>
        <a:p>
          <a:endParaRPr lang="zh-CN" altLang="en-US"/>
        </a:p>
      </dgm:t>
    </dgm:pt>
    <dgm:pt modelId="{083C8C4C-A4B6-4BB9-BCAB-2FDC68C2AB87}" type="pres">
      <dgm:prSet presAssocID="{65B5B339-AB57-4A78-9082-E5C0D89B9016}" presName="Name0" presStyleCnt="0">
        <dgm:presLayoutVars>
          <dgm:chMax val="7"/>
          <dgm:chPref val="7"/>
          <dgm:dir/>
        </dgm:presLayoutVars>
      </dgm:prSet>
      <dgm:spPr/>
    </dgm:pt>
    <dgm:pt modelId="{9BC0226F-BA99-453B-8731-A77194D5469F}" type="pres">
      <dgm:prSet presAssocID="{65B5B339-AB57-4A78-9082-E5C0D89B9016}" presName="Name1" presStyleCnt="0"/>
      <dgm:spPr/>
    </dgm:pt>
    <dgm:pt modelId="{85D2A434-7B0F-4B6A-8700-6E9084664D45}" type="pres">
      <dgm:prSet presAssocID="{65B5B339-AB57-4A78-9082-E5C0D89B9016}" presName="cycle" presStyleCnt="0"/>
      <dgm:spPr/>
    </dgm:pt>
    <dgm:pt modelId="{B2527CE6-0802-4A9A-BF84-7507A346DA73}" type="pres">
      <dgm:prSet presAssocID="{65B5B339-AB57-4A78-9082-E5C0D89B9016}" presName="srcNode" presStyleLbl="node1" presStyleIdx="0" presStyleCnt="3"/>
      <dgm:spPr/>
    </dgm:pt>
    <dgm:pt modelId="{3C317D7A-AE04-4284-B062-28C256BC113C}" type="pres">
      <dgm:prSet presAssocID="{65B5B339-AB57-4A78-9082-E5C0D89B9016}" presName="conn" presStyleLbl="parChTrans1D2" presStyleIdx="0" presStyleCnt="1"/>
      <dgm:spPr/>
    </dgm:pt>
    <dgm:pt modelId="{A061B58D-B955-45BD-A4C5-65C2D214929C}" type="pres">
      <dgm:prSet presAssocID="{65B5B339-AB57-4A78-9082-E5C0D89B9016}" presName="extraNode" presStyleLbl="node1" presStyleIdx="0" presStyleCnt="3"/>
      <dgm:spPr/>
    </dgm:pt>
    <dgm:pt modelId="{B1B1D4AE-11D6-4D55-B949-12776B92E4C2}" type="pres">
      <dgm:prSet presAssocID="{65B5B339-AB57-4A78-9082-E5C0D89B9016}" presName="dstNode" presStyleLbl="node1" presStyleIdx="0" presStyleCnt="3"/>
      <dgm:spPr/>
    </dgm:pt>
    <dgm:pt modelId="{70027AE5-9FD3-4CC1-8EC5-4E560CC456EB}" type="pres">
      <dgm:prSet presAssocID="{CB8878C0-62BD-4B08-8494-1CA69B3FFFA3}" presName="text_1" presStyleLbl="node1" presStyleIdx="0" presStyleCnt="3">
        <dgm:presLayoutVars>
          <dgm:bulletEnabled val="1"/>
        </dgm:presLayoutVars>
      </dgm:prSet>
      <dgm:spPr/>
    </dgm:pt>
    <dgm:pt modelId="{BF463672-F1AD-4CAD-A94B-7FA94BC8FC37}" type="pres">
      <dgm:prSet presAssocID="{CB8878C0-62BD-4B08-8494-1CA69B3FFFA3}" presName="accent_1" presStyleCnt="0"/>
      <dgm:spPr/>
    </dgm:pt>
    <dgm:pt modelId="{5505FB81-D3E9-4F93-9B21-6DC82CD19E60}" type="pres">
      <dgm:prSet presAssocID="{CB8878C0-62BD-4B08-8494-1CA69B3FFFA3}" presName="accentRepeatNode" presStyleLbl="solidFgAcc1" presStyleIdx="0" presStyleCnt="3"/>
      <dgm:spPr>
        <a:solidFill>
          <a:srgbClr val="00B0F0"/>
        </a:solidFill>
      </dgm:spPr>
    </dgm:pt>
    <dgm:pt modelId="{0D30ACA3-0D4A-42DD-B7E7-A4853A274FE7}" type="pres">
      <dgm:prSet presAssocID="{9011BD98-AB4C-4869-9684-3F8C1FFA78FD}" presName="text_2" presStyleLbl="node1" presStyleIdx="1" presStyleCnt="3">
        <dgm:presLayoutVars>
          <dgm:bulletEnabled val="1"/>
        </dgm:presLayoutVars>
      </dgm:prSet>
      <dgm:spPr/>
    </dgm:pt>
    <dgm:pt modelId="{BA700D3E-FA51-4FE3-8A8A-C26CBA4D1224}" type="pres">
      <dgm:prSet presAssocID="{9011BD98-AB4C-4869-9684-3F8C1FFA78FD}" presName="accent_2" presStyleCnt="0"/>
      <dgm:spPr/>
    </dgm:pt>
    <dgm:pt modelId="{6290FD25-01B1-462D-917C-B299AB6A1E5F}" type="pres">
      <dgm:prSet presAssocID="{9011BD98-AB4C-4869-9684-3F8C1FFA78FD}" presName="accentRepeatNode" presStyleLbl="solidFgAcc1" presStyleIdx="1" presStyleCnt="3"/>
      <dgm:spPr>
        <a:solidFill>
          <a:srgbClr val="00B0F0"/>
        </a:solidFill>
      </dgm:spPr>
    </dgm:pt>
    <dgm:pt modelId="{12A3F7F9-9C2C-4611-B265-872DE136E3E5}" type="pres">
      <dgm:prSet presAssocID="{2DD6BD87-3AFB-4A84-BC70-7F8BA50C81E5}" presName="text_3" presStyleLbl="node1" presStyleIdx="2" presStyleCnt="3">
        <dgm:presLayoutVars>
          <dgm:bulletEnabled val="1"/>
        </dgm:presLayoutVars>
      </dgm:prSet>
      <dgm:spPr/>
    </dgm:pt>
    <dgm:pt modelId="{3FE383CC-9893-4A0C-93BD-55DF8562BF38}" type="pres">
      <dgm:prSet presAssocID="{2DD6BD87-3AFB-4A84-BC70-7F8BA50C81E5}" presName="accent_3" presStyleCnt="0"/>
      <dgm:spPr/>
    </dgm:pt>
    <dgm:pt modelId="{9BA86065-E8B3-4489-B247-92CF93A14904}" type="pres">
      <dgm:prSet presAssocID="{2DD6BD87-3AFB-4A84-BC70-7F8BA50C81E5}" presName="accentRepeatNode" presStyleLbl="solidFgAcc1" presStyleIdx="2" presStyleCnt="3"/>
      <dgm:spPr>
        <a:solidFill>
          <a:srgbClr val="00B0F0"/>
        </a:solidFill>
      </dgm:spPr>
    </dgm:pt>
  </dgm:ptLst>
  <dgm:cxnLst>
    <dgm:cxn modelId="{CD447806-5427-43A3-B91E-4D5B8DB561ED}" srcId="{65B5B339-AB57-4A78-9082-E5C0D89B9016}" destId="{CB8878C0-62BD-4B08-8494-1CA69B3FFFA3}" srcOrd="0" destOrd="0" parTransId="{6B07DBD2-D33D-4B5C-9825-176F3A4E9418}" sibTransId="{95D969C6-6EE9-4BA7-AE9E-B690AAA61AE7}"/>
    <dgm:cxn modelId="{C8E8765D-4EDD-40B3-B8C8-C3481EA0840B}" type="presOf" srcId="{2DD6BD87-3AFB-4A84-BC70-7F8BA50C81E5}" destId="{12A3F7F9-9C2C-4611-B265-872DE136E3E5}" srcOrd="0" destOrd="0" presId="urn:microsoft.com/office/officeart/2008/layout/VerticalCurvedList"/>
    <dgm:cxn modelId="{2260A142-9166-440C-A504-A4AD9C54F903}" type="presOf" srcId="{65B5B339-AB57-4A78-9082-E5C0D89B9016}" destId="{083C8C4C-A4B6-4BB9-BCAB-2FDC68C2AB87}" srcOrd="0" destOrd="0" presId="urn:microsoft.com/office/officeart/2008/layout/VerticalCurvedList"/>
    <dgm:cxn modelId="{A6B18063-C663-4E91-BC7F-0829059AE0FF}" type="presOf" srcId="{95D969C6-6EE9-4BA7-AE9E-B690AAA61AE7}" destId="{3C317D7A-AE04-4284-B062-28C256BC113C}" srcOrd="0" destOrd="0" presId="urn:microsoft.com/office/officeart/2008/layout/VerticalCurvedList"/>
    <dgm:cxn modelId="{6367CE45-03DF-453C-9680-34E3B636A53F}" srcId="{65B5B339-AB57-4A78-9082-E5C0D89B9016}" destId="{2DD6BD87-3AFB-4A84-BC70-7F8BA50C81E5}" srcOrd="2" destOrd="0" parTransId="{9452D5E8-DF74-44F1-89C9-A1482028A15C}" sibTransId="{88A7218F-8000-418A-B4BE-D2B5E3DE3906}"/>
    <dgm:cxn modelId="{C02AEE4A-3AA1-434C-982B-0BFBD959E3FD}" type="presOf" srcId="{9011BD98-AB4C-4869-9684-3F8C1FFA78FD}" destId="{0D30ACA3-0D4A-42DD-B7E7-A4853A274FE7}" srcOrd="0" destOrd="0" presId="urn:microsoft.com/office/officeart/2008/layout/VerticalCurvedList"/>
    <dgm:cxn modelId="{E04DE26F-F8D5-446D-8D99-C9EB422832E5}" type="presOf" srcId="{CB8878C0-62BD-4B08-8494-1CA69B3FFFA3}" destId="{70027AE5-9FD3-4CC1-8EC5-4E560CC456EB}" srcOrd="0" destOrd="0" presId="urn:microsoft.com/office/officeart/2008/layout/VerticalCurvedList"/>
    <dgm:cxn modelId="{84D5E278-07E5-4047-8A89-1FB4E9D63177}" srcId="{65B5B339-AB57-4A78-9082-E5C0D89B9016}" destId="{9011BD98-AB4C-4869-9684-3F8C1FFA78FD}" srcOrd="1" destOrd="0" parTransId="{1C9C639F-7203-4A61-9CA1-F34C7E8DD3CD}" sibTransId="{12CD7B51-1F01-4358-94D5-D7FF20739725}"/>
    <dgm:cxn modelId="{15390D3F-6C1D-4898-9B47-29EFC09094F3}" type="presParOf" srcId="{083C8C4C-A4B6-4BB9-BCAB-2FDC68C2AB87}" destId="{9BC0226F-BA99-453B-8731-A77194D5469F}" srcOrd="0" destOrd="0" presId="urn:microsoft.com/office/officeart/2008/layout/VerticalCurvedList"/>
    <dgm:cxn modelId="{0544266A-E2DC-4C8B-B4F5-FE3E2A2F7C34}" type="presParOf" srcId="{9BC0226F-BA99-453B-8731-A77194D5469F}" destId="{85D2A434-7B0F-4B6A-8700-6E9084664D45}" srcOrd="0" destOrd="0" presId="urn:microsoft.com/office/officeart/2008/layout/VerticalCurvedList"/>
    <dgm:cxn modelId="{59CA2DA2-569B-4237-B6BD-11B77EAD82AA}" type="presParOf" srcId="{85D2A434-7B0F-4B6A-8700-6E9084664D45}" destId="{B2527CE6-0802-4A9A-BF84-7507A346DA73}" srcOrd="0" destOrd="0" presId="urn:microsoft.com/office/officeart/2008/layout/VerticalCurvedList"/>
    <dgm:cxn modelId="{D7432F93-F26A-4CF0-955A-08498278DF15}" type="presParOf" srcId="{85D2A434-7B0F-4B6A-8700-6E9084664D45}" destId="{3C317D7A-AE04-4284-B062-28C256BC113C}" srcOrd="1" destOrd="0" presId="urn:microsoft.com/office/officeart/2008/layout/VerticalCurvedList"/>
    <dgm:cxn modelId="{06283327-3DCF-42D8-B3AA-9475E3577754}" type="presParOf" srcId="{85D2A434-7B0F-4B6A-8700-6E9084664D45}" destId="{A061B58D-B955-45BD-A4C5-65C2D214929C}" srcOrd="2" destOrd="0" presId="urn:microsoft.com/office/officeart/2008/layout/VerticalCurvedList"/>
    <dgm:cxn modelId="{E33EB2E8-680F-4472-AC40-FF3C2D5098A7}" type="presParOf" srcId="{85D2A434-7B0F-4B6A-8700-6E9084664D45}" destId="{B1B1D4AE-11D6-4D55-B949-12776B92E4C2}" srcOrd="3" destOrd="0" presId="urn:microsoft.com/office/officeart/2008/layout/VerticalCurvedList"/>
    <dgm:cxn modelId="{D2B3EC10-8F30-4D6B-801E-622878E3DA9B}" type="presParOf" srcId="{9BC0226F-BA99-453B-8731-A77194D5469F}" destId="{70027AE5-9FD3-4CC1-8EC5-4E560CC456EB}" srcOrd="1" destOrd="0" presId="urn:microsoft.com/office/officeart/2008/layout/VerticalCurvedList"/>
    <dgm:cxn modelId="{1BD40D54-579C-4ED8-A8A4-BF94CB8B6C53}" type="presParOf" srcId="{9BC0226F-BA99-453B-8731-A77194D5469F}" destId="{BF463672-F1AD-4CAD-A94B-7FA94BC8FC37}" srcOrd="2" destOrd="0" presId="urn:microsoft.com/office/officeart/2008/layout/VerticalCurvedList"/>
    <dgm:cxn modelId="{E0B6B77A-4BA2-4D83-BD92-63A92E9A49ED}" type="presParOf" srcId="{BF463672-F1AD-4CAD-A94B-7FA94BC8FC37}" destId="{5505FB81-D3E9-4F93-9B21-6DC82CD19E60}" srcOrd="0" destOrd="0" presId="urn:microsoft.com/office/officeart/2008/layout/VerticalCurvedList"/>
    <dgm:cxn modelId="{F25D3D23-E057-43BE-8DA3-4BEDFED91523}" type="presParOf" srcId="{9BC0226F-BA99-453B-8731-A77194D5469F}" destId="{0D30ACA3-0D4A-42DD-B7E7-A4853A274FE7}" srcOrd="3" destOrd="0" presId="urn:microsoft.com/office/officeart/2008/layout/VerticalCurvedList"/>
    <dgm:cxn modelId="{DC6357F2-E032-4AF8-9FBC-E6B1F6F11919}" type="presParOf" srcId="{9BC0226F-BA99-453B-8731-A77194D5469F}" destId="{BA700D3E-FA51-4FE3-8A8A-C26CBA4D1224}" srcOrd="4" destOrd="0" presId="urn:microsoft.com/office/officeart/2008/layout/VerticalCurvedList"/>
    <dgm:cxn modelId="{5F225BD5-B570-4A60-95AC-BC7AF5552EC7}" type="presParOf" srcId="{BA700D3E-FA51-4FE3-8A8A-C26CBA4D1224}" destId="{6290FD25-01B1-462D-917C-B299AB6A1E5F}" srcOrd="0" destOrd="0" presId="urn:microsoft.com/office/officeart/2008/layout/VerticalCurvedList"/>
    <dgm:cxn modelId="{998115EF-1B6E-4803-8D53-2F979039C841}" type="presParOf" srcId="{9BC0226F-BA99-453B-8731-A77194D5469F}" destId="{12A3F7F9-9C2C-4611-B265-872DE136E3E5}" srcOrd="5" destOrd="0" presId="urn:microsoft.com/office/officeart/2008/layout/VerticalCurvedList"/>
    <dgm:cxn modelId="{BA1277FD-1EA4-47B6-890E-492785348287}" type="presParOf" srcId="{9BC0226F-BA99-453B-8731-A77194D5469F}" destId="{3FE383CC-9893-4A0C-93BD-55DF8562BF38}" srcOrd="6" destOrd="0" presId="urn:microsoft.com/office/officeart/2008/layout/VerticalCurvedList"/>
    <dgm:cxn modelId="{D912FEA6-F67B-432D-AD05-74A50797641A}" type="presParOf" srcId="{3FE383CC-9893-4A0C-93BD-55DF8562BF38}" destId="{9BA86065-E8B3-4489-B247-92CF93A1490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317D7A-AE04-4284-B062-28C256BC113C}">
      <dsp:nvSpPr>
        <dsp:cNvPr id="0" name=""/>
        <dsp:cNvSpPr/>
      </dsp:nvSpPr>
      <dsp:spPr>
        <a:xfrm>
          <a:off x="-6125176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027AE5-9FD3-4CC1-8EC5-4E560CC456EB}">
      <dsp:nvSpPr>
        <dsp:cNvPr id="0" name=""/>
        <dsp:cNvSpPr/>
      </dsp:nvSpPr>
      <dsp:spPr>
        <a:xfrm>
          <a:off x="752110" y="541866"/>
          <a:ext cx="7301111" cy="10837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93980" rIns="93980" bIns="9398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700" kern="1200"/>
            <a:t>项目背景和方案选择</a:t>
          </a:r>
        </a:p>
      </dsp:txBody>
      <dsp:txXfrm>
        <a:off x="752110" y="541866"/>
        <a:ext cx="7301111" cy="1083733"/>
      </dsp:txXfrm>
    </dsp:sp>
    <dsp:sp modelId="{5505FB81-D3E9-4F93-9B21-6DC82CD19E60}">
      <dsp:nvSpPr>
        <dsp:cNvPr id="0" name=""/>
        <dsp:cNvSpPr/>
      </dsp:nvSpPr>
      <dsp:spPr>
        <a:xfrm>
          <a:off x="74777" y="406400"/>
          <a:ext cx="1354666" cy="1354666"/>
        </a:xfrm>
        <a:prstGeom prst="ellipse">
          <a:avLst/>
        </a:prstGeom>
        <a:solidFill>
          <a:srgbClr val="00B0F0"/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30ACA3-0D4A-42DD-B7E7-A4853A274FE7}">
      <dsp:nvSpPr>
        <dsp:cNvPr id="0" name=""/>
        <dsp:cNvSpPr/>
      </dsp:nvSpPr>
      <dsp:spPr>
        <a:xfrm>
          <a:off x="1146048" y="2167466"/>
          <a:ext cx="6907174" cy="10837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93980" rIns="93980" bIns="9398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700" kern="1200"/>
            <a:t>RAG</a:t>
          </a:r>
          <a:r>
            <a:rPr lang="zh-CN" altLang="en-US" sz="3700" kern="1200"/>
            <a:t>流程和</a:t>
          </a:r>
          <a:r>
            <a:rPr lang="en-US" altLang="zh-CN" sz="3700" kern="1200"/>
            <a:t>LangChain</a:t>
          </a:r>
          <a:r>
            <a:rPr lang="zh-CN" altLang="en-US" sz="3700" kern="1200"/>
            <a:t>简介</a:t>
          </a:r>
        </a:p>
      </dsp:txBody>
      <dsp:txXfrm>
        <a:off x="1146048" y="2167466"/>
        <a:ext cx="6907174" cy="1083733"/>
      </dsp:txXfrm>
    </dsp:sp>
    <dsp:sp modelId="{6290FD25-01B1-462D-917C-B299AB6A1E5F}">
      <dsp:nvSpPr>
        <dsp:cNvPr id="0" name=""/>
        <dsp:cNvSpPr/>
      </dsp:nvSpPr>
      <dsp:spPr>
        <a:xfrm>
          <a:off x="468714" y="2032000"/>
          <a:ext cx="1354666" cy="1354666"/>
        </a:xfrm>
        <a:prstGeom prst="ellipse">
          <a:avLst/>
        </a:prstGeom>
        <a:solidFill>
          <a:srgbClr val="00B0F0"/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A3F7F9-9C2C-4611-B265-872DE136E3E5}">
      <dsp:nvSpPr>
        <dsp:cNvPr id="0" name=""/>
        <dsp:cNvSpPr/>
      </dsp:nvSpPr>
      <dsp:spPr>
        <a:xfrm>
          <a:off x="752110" y="3793066"/>
          <a:ext cx="7301111" cy="10837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0213" tIns="93980" rIns="93980" bIns="9398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700" kern="1200"/>
            <a:t>项目计划和预期成果</a:t>
          </a:r>
        </a:p>
      </dsp:txBody>
      <dsp:txXfrm>
        <a:off x="752110" y="3793066"/>
        <a:ext cx="7301111" cy="1083733"/>
      </dsp:txXfrm>
    </dsp:sp>
    <dsp:sp modelId="{9BA86065-E8B3-4489-B247-92CF93A14904}">
      <dsp:nvSpPr>
        <dsp:cNvPr id="0" name=""/>
        <dsp:cNvSpPr/>
      </dsp:nvSpPr>
      <dsp:spPr>
        <a:xfrm>
          <a:off x="74777" y="3657600"/>
          <a:ext cx="1354666" cy="1354666"/>
        </a:xfrm>
        <a:prstGeom prst="ellipse">
          <a:avLst/>
        </a:prstGeom>
        <a:solidFill>
          <a:srgbClr val="00B0F0"/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666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338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924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94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476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50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957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332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941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772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422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9351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6155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4818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878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798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086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689DD7C-17AE-418B-A4BF-8B62C5DAB649}" type="datetimeFigureOut">
              <a:rPr lang="zh-CN" altLang="en-US" smtClean="0"/>
              <a:t>2025/3/25/Tuesday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C7C3D8F-3B4C-4814-98F2-2DD9F485E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9447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16A4FA-C719-4211-BF7A-4B725E3B2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核工业专业知识问答模型构建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59E04F-4C24-4DF6-82C0-909E15229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062" y="4815417"/>
            <a:ext cx="3497263" cy="909108"/>
          </a:xfrm>
        </p:spPr>
        <p:txBody>
          <a:bodyPr>
            <a:norm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答辩人： 软</a:t>
            </a:r>
            <a:r>
              <a:rPr lang="en-US" altLang="zh-CN">
                <a:solidFill>
                  <a:schemeClr val="tx1"/>
                </a:solidFill>
              </a:rPr>
              <a:t>2210 </a:t>
            </a:r>
            <a:r>
              <a:rPr lang="zh-CN" altLang="en-US">
                <a:solidFill>
                  <a:schemeClr val="tx1"/>
                </a:solidFill>
              </a:rPr>
              <a:t>徐远达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指导老师：谢玲</a:t>
            </a:r>
          </a:p>
        </p:txBody>
      </p:sp>
    </p:spTree>
    <p:extLst>
      <p:ext uri="{BB962C8B-B14F-4D97-AF65-F5344CB8AC3E}">
        <p14:creationId xmlns:p14="http://schemas.microsoft.com/office/powerpoint/2010/main" val="392017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0401D-058A-430F-BF82-F3A079AF9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561" y="314324"/>
            <a:ext cx="8534401" cy="963975"/>
          </a:xfrm>
        </p:spPr>
        <p:txBody>
          <a:bodyPr>
            <a:normAutofit fontScale="90000"/>
          </a:bodyPr>
          <a:lstStyle/>
          <a:p>
            <a:r>
              <a:rPr lang="zh-CN" altLang="en-US" sz="6000" b="1"/>
              <a:t>目录</a:t>
            </a:r>
          </a:p>
        </p:txBody>
      </p:sp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F67FA416-3F3F-4DD3-AA5C-5C32A4E2A7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6507983"/>
              </p:ext>
            </p:extLst>
          </p:nvPr>
        </p:nvGraphicFramePr>
        <p:xfrm>
          <a:off x="1403350" y="127072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B43E9223-1999-40A8-A6A2-4CA064D46C6B}"/>
              </a:ext>
            </a:extLst>
          </p:cNvPr>
          <p:cNvSpPr txBox="1"/>
          <p:nvPr/>
        </p:nvSpPr>
        <p:spPr>
          <a:xfrm>
            <a:off x="1876425" y="1889614"/>
            <a:ext cx="5429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>
                <a:solidFill>
                  <a:schemeClr val="bg1"/>
                </a:solidFill>
              </a:rPr>
              <a:t>1</a:t>
            </a:r>
            <a:endParaRPr lang="zh-CN" altLang="en-US" sz="4400" b="1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E6405F-D20F-4DBF-A4A2-9E1BB418CC57}"/>
              </a:ext>
            </a:extLst>
          </p:cNvPr>
          <p:cNvSpPr txBox="1"/>
          <p:nvPr/>
        </p:nvSpPr>
        <p:spPr>
          <a:xfrm>
            <a:off x="2293935" y="3571605"/>
            <a:ext cx="460377" cy="773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>
                <a:solidFill>
                  <a:schemeClr val="bg1"/>
                </a:solidFill>
              </a:rPr>
              <a:t>2</a:t>
            </a:r>
            <a:endParaRPr lang="zh-CN" altLang="en-US" sz="4400" b="1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E87786-B17D-47E7-B8C2-AA2F37A07ED4}"/>
              </a:ext>
            </a:extLst>
          </p:cNvPr>
          <p:cNvSpPr txBox="1"/>
          <p:nvPr/>
        </p:nvSpPr>
        <p:spPr>
          <a:xfrm>
            <a:off x="1925636" y="5200737"/>
            <a:ext cx="460376" cy="773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>
                <a:solidFill>
                  <a:schemeClr val="bg1"/>
                </a:solidFill>
              </a:rPr>
              <a:t>3</a:t>
            </a:r>
            <a:endParaRPr lang="zh-CN" altLang="en-US" sz="4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745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D1490-78C1-4058-8CC1-997C2FA8E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62" y="296332"/>
            <a:ext cx="8534400" cy="1507067"/>
          </a:xfrm>
        </p:spPr>
        <p:txBody>
          <a:bodyPr/>
          <a:lstStyle/>
          <a:p>
            <a:r>
              <a:rPr lang="en-US" altLang="zh-CN" b="1"/>
              <a:t>1</a:t>
            </a:r>
            <a:r>
              <a:rPr lang="zh-CN" altLang="en-US" b="1"/>
              <a:t>、项目背景和方案选择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9CE738-E44A-415C-8465-AC85F783AC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6062" y="1666239"/>
            <a:ext cx="11431588" cy="2606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>
                <a:solidFill>
                  <a:schemeClr val="tx1"/>
                </a:solidFill>
              </a:rPr>
              <a:t>核工业技术文档管理面临的困境：</a:t>
            </a:r>
          </a:p>
          <a:p>
            <a:r>
              <a:rPr lang="zh-CN" altLang="en-US" b="1">
                <a:solidFill>
                  <a:schemeClr val="tx1"/>
                </a:solidFill>
              </a:rPr>
              <a:t>技术文档庞大：</a:t>
            </a:r>
            <a:r>
              <a:rPr lang="zh-CN" altLang="en-US">
                <a:solidFill>
                  <a:schemeClr val="tx1"/>
                </a:solidFill>
              </a:rPr>
              <a:t>核工业研究涉及范围广阔，包括核燃料的生产与加工；试验堆、生产堆及动力堆的建造；辐照燃料的后处理；以及核武器的研究与制造等。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内容专业性强：</a:t>
            </a:r>
            <a:r>
              <a:rPr lang="zh-CN" altLang="en-US">
                <a:solidFill>
                  <a:schemeClr val="tx1"/>
                </a:solidFill>
              </a:rPr>
              <a:t>核工业涉及复杂的反应堆设计和热力学分析、严格的核工厂操作规范和安全标准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tx1"/>
                </a:solidFill>
              </a:rPr>
              <a:t>格式非结构化：</a:t>
            </a:r>
            <a:r>
              <a:rPr lang="zh-CN" altLang="en-US">
                <a:solidFill>
                  <a:schemeClr val="tx1"/>
                </a:solidFill>
              </a:rPr>
              <a:t>技术文档主要以非结构化文本形式存在，如设计手册、操作手册、法规政策等。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3CB6B5B-800E-4D2D-9148-C3BF50A1A73E}"/>
              </a:ext>
            </a:extLst>
          </p:cNvPr>
          <p:cNvSpPr txBox="1">
            <a:spLocks/>
          </p:cNvSpPr>
          <p:nvPr/>
        </p:nvSpPr>
        <p:spPr>
          <a:xfrm>
            <a:off x="246062" y="4272280"/>
            <a:ext cx="7135813" cy="2153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zh-CN" altLang="en-US" sz="2400">
                <a:solidFill>
                  <a:schemeClr val="tx1"/>
                </a:solidFill>
              </a:rPr>
              <a:t>传统的文档管理系统：</a:t>
            </a:r>
          </a:p>
          <a:p>
            <a:r>
              <a:rPr lang="zh-CN" altLang="en-US" b="1">
                <a:solidFill>
                  <a:schemeClr val="tx1"/>
                </a:solidFill>
              </a:rPr>
              <a:t>无法高效支持复杂</a:t>
            </a:r>
            <a:r>
              <a:rPr lang="zh-CN" altLang="en-US">
                <a:solidFill>
                  <a:schemeClr val="tx1"/>
                </a:solidFill>
              </a:rPr>
              <a:t>技术问题解答，工作效率低下。</a:t>
            </a:r>
          </a:p>
          <a:p>
            <a:r>
              <a:rPr lang="zh-CN" altLang="en-US">
                <a:solidFill>
                  <a:schemeClr val="tx1"/>
                </a:solidFill>
              </a:rPr>
              <a:t>查找特定技术内容需要</a:t>
            </a:r>
            <a:r>
              <a:rPr lang="zh-CN" altLang="en-US" b="1">
                <a:solidFill>
                  <a:schemeClr val="tx1"/>
                </a:solidFill>
              </a:rPr>
              <a:t>花费大量时间</a:t>
            </a:r>
            <a:r>
              <a:rPr lang="zh-CN" altLang="en-US">
                <a:solidFill>
                  <a:schemeClr val="tx1"/>
                </a:solidFill>
              </a:rPr>
              <a:t>，人工筛查困难。</a:t>
            </a:r>
          </a:p>
        </p:txBody>
      </p:sp>
    </p:spTree>
    <p:extLst>
      <p:ext uri="{BB962C8B-B14F-4D97-AF65-F5344CB8AC3E}">
        <p14:creationId xmlns:p14="http://schemas.microsoft.com/office/powerpoint/2010/main" val="112248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D1490-78C1-4058-8CC1-997C2FA8E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20" y="-328505"/>
            <a:ext cx="8534400" cy="1507067"/>
          </a:xfrm>
        </p:spPr>
        <p:txBody>
          <a:bodyPr/>
          <a:lstStyle/>
          <a:p>
            <a:r>
              <a:rPr lang="en-US" altLang="zh-CN" b="1"/>
              <a:t>1</a:t>
            </a:r>
            <a:r>
              <a:rPr lang="zh-CN" altLang="en-US" b="1"/>
              <a:t>、项目背景和方案选择</a:t>
            </a:r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FBA68D20-BF4B-4B0D-AE58-6D459D10A63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33294909"/>
              </p:ext>
            </p:extLst>
          </p:nvPr>
        </p:nvGraphicFramePr>
        <p:xfrm>
          <a:off x="318452" y="1082038"/>
          <a:ext cx="10989627" cy="4191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3209">
                  <a:extLst>
                    <a:ext uri="{9D8B030D-6E8A-4147-A177-3AD203B41FA5}">
                      <a16:colId xmlns:a16="http://schemas.microsoft.com/office/drawing/2014/main" val="4104988804"/>
                    </a:ext>
                  </a:extLst>
                </a:gridCol>
                <a:gridCol w="3663209">
                  <a:extLst>
                    <a:ext uri="{9D8B030D-6E8A-4147-A177-3AD203B41FA5}">
                      <a16:colId xmlns:a16="http://schemas.microsoft.com/office/drawing/2014/main" val="1931414157"/>
                    </a:ext>
                  </a:extLst>
                </a:gridCol>
                <a:gridCol w="3663209">
                  <a:extLst>
                    <a:ext uri="{9D8B030D-6E8A-4147-A177-3AD203B41FA5}">
                      <a16:colId xmlns:a16="http://schemas.microsoft.com/office/drawing/2014/main" val="1302402116"/>
                    </a:ext>
                  </a:extLst>
                </a:gridCol>
              </a:tblGrid>
              <a:tr h="8146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400"/>
                        <a:t>问答技术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400"/>
                        <a:t>优点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400"/>
                        <a:t>缺点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331414"/>
                  </a:ext>
                </a:extLst>
              </a:tr>
              <a:tr h="1125465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基于检索的问答系统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/>
                        <a:t>1</a:t>
                      </a:r>
                      <a:r>
                        <a:rPr lang="zh-CN" altLang="en-US"/>
                        <a:t>、关键词匹配，响应速度快</a:t>
                      </a:r>
                      <a:endParaRPr lang="en-US" altLang="zh-CN"/>
                    </a:p>
                    <a:p>
                      <a:pPr algn="l"/>
                      <a:r>
                        <a:rPr lang="en-US" altLang="zh-CN"/>
                        <a:t>2</a:t>
                      </a:r>
                      <a:r>
                        <a:rPr lang="zh-CN" altLang="en-US"/>
                        <a:t>、技术成熟，容易实现</a:t>
                      </a:r>
                      <a:endParaRPr lang="en-US" altLang="zh-CN"/>
                    </a:p>
                    <a:p>
                      <a:pPr algn="l"/>
                      <a:r>
                        <a:rPr lang="en-US" altLang="zh-CN"/>
                        <a:t>3</a:t>
                      </a:r>
                      <a:r>
                        <a:rPr lang="zh-CN" altLang="en-US"/>
                        <a:t>、答案可追溯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</a:t>
                      </a:r>
                      <a:r>
                        <a:rPr lang="zh-CN" altLang="en-US"/>
                        <a:t>、无法理解问题语义</a:t>
                      </a:r>
                      <a:endParaRPr lang="en-US" altLang="zh-CN"/>
                    </a:p>
                    <a:p>
                      <a:r>
                        <a:rPr lang="en-US" altLang="zh-CN"/>
                        <a:t>2</a:t>
                      </a:r>
                      <a:r>
                        <a:rPr lang="zh-CN" altLang="en-US"/>
                        <a:t>、答案依赖文档质量</a:t>
                      </a:r>
                      <a:endParaRPr lang="en-US" altLang="zh-CN"/>
                    </a:p>
                    <a:p>
                      <a:r>
                        <a:rPr lang="en-US" altLang="zh-CN"/>
                        <a:t>3</a:t>
                      </a:r>
                      <a:r>
                        <a:rPr lang="zh-CN" altLang="en-US"/>
                        <a:t>、回答不够多样化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519058"/>
                  </a:ext>
                </a:extLst>
              </a:tr>
              <a:tr h="1125465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基于生成的问答系统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/>
                        <a:t>1</a:t>
                      </a:r>
                      <a:r>
                        <a:rPr lang="zh-CN" altLang="en-US"/>
                        <a:t>、灵活性高，擅长应对开放式、模糊性强的问题</a:t>
                      </a:r>
                      <a:endParaRPr lang="en-US" altLang="zh-CN"/>
                    </a:p>
                    <a:p>
                      <a:pPr algn="l"/>
                      <a:r>
                        <a:rPr lang="en-US" altLang="zh-CN"/>
                        <a:t>2</a:t>
                      </a:r>
                      <a:r>
                        <a:rPr lang="zh-CN" altLang="en-US"/>
                        <a:t>、答案自然流畅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</a:t>
                      </a:r>
                      <a:r>
                        <a:rPr lang="zh-CN" altLang="en-US"/>
                        <a:t>、可能生成错误答案（幻觉问题）</a:t>
                      </a:r>
                      <a:endParaRPr lang="en-US" altLang="zh-CN"/>
                    </a:p>
                    <a:p>
                      <a:r>
                        <a:rPr lang="en-US" altLang="zh-CN"/>
                        <a:t>2</a:t>
                      </a:r>
                      <a:r>
                        <a:rPr lang="zh-CN" altLang="en-US"/>
                        <a:t>、答案不可靠、不准确</a:t>
                      </a:r>
                      <a:endParaRPr lang="en-US" altLang="zh-CN"/>
                    </a:p>
                    <a:p>
                      <a:r>
                        <a:rPr lang="en-US" altLang="zh-CN"/>
                        <a:t>3</a:t>
                      </a:r>
                      <a:r>
                        <a:rPr lang="zh-CN" altLang="en-US"/>
                        <a:t>、响应较慢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773289"/>
                  </a:ext>
                </a:extLst>
              </a:tr>
              <a:tr h="1125465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基于检索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生成的系统（</a:t>
                      </a:r>
                      <a:r>
                        <a:rPr lang="en-US" altLang="zh-CN"/>
                        <a:t>RAG</a:t>
                      </a:r>
                      <a:r>
                        <a:rPr lang="zh-CN" altLang="en-US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/>
                        <a:t>1</a:t>
                      </a:r>
                      <a:r>
                        <a:rPr lang="zh-CN" altLang="en-US"/>
                        <a:t>、检索高效，生成灵活</a:t>
                      </a:r>
                      <a:endParaRPr lang="en-US" altLang="zh-CN"/>
                    </a:p>
                    <a:p>
                      <a:pPr algn="l"/>
                      <a:r>
                        <a:rPr lang="en-US" altLang="zh-CN"/>
                        <a:t>2</a:t>
                      </a:r>
                      <a:r>
                        <a:rPr lang="zh-CN" altLang="en-US"/>
                        <a:t>、答案更加准确</a:t>
                      </a:r>
                      <a:endParaRPr lang="en-US" altLang="zh-CN"/>
                    </a:p>
                    <a:p>
                      <a:pPr algn="l"/>
                      <a:r>
                        <a:rPr lang="en-US" altLang="zh-CN"/>
                        <a:t>3</a:t>
                      </a:r>
                      <a:r>
                        <a:rPr lang="zh-CN" altLang="en-US"/>
                        <a:t>、适应多种场景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1</a:t>
                      </a:r>
                      <a:r>
                        <a:rPr lang="zh-CN" altLang="en-US"/>
                        <a:t>、需要高质量的文档库</a:t>
                      </a:r>
                      <a:endParaRPr lang="en-US" altLang="zh-CN"/>
                    </a:p>
                    <a:p>
                      <a:r>
                        <a:rPr lang="en-US" altLang="zh-CN"/>
                        <a:t>2</a:t>
                      </a:r>
                      <a:r>
                        <a:rPr lang="zh-CN" altLang="en-US"/>
                        <a:t>、响应较慢</a:t>
                      </a:r>
                      <a:endParaRPr lang="en-US" altLang="zh-CN"/>
                    </a:p>
                    <a:p>
                      <a:r>
                        <a:rPr lang="en-US" altLang="zh-CN"/>
                        <a:t>3</a:t>
                      </a:r>
                      <a:r>
                        <a:rPr lang="zh-CN" altLang="en-US"/>
                        <a:t>、复杂性较高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191791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7B33ED01-427B-46A5-8E5D-3679D6A0EE71}"/>
              </a:ext>
            </a:extLst>
          </p:cNvPr>
          <p:cNvSpPr txBox="1"/>
          <p:nvPr/>
        </p:nvSpPr>
        <p:spPr>
          <a:xfrm>
            <a:off x="318452" y="5608320"/>
            <a:ext cx="104086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/>
              <a:t>结论：</a:t>
            </a:r>
            <a:r>
              <a:rPr lang="en-US" altLang="zh-CN" sz="2400"/>
              <a:t>RAG</a:t>
            </a:r>
            <a:r>
              <a:rPr lang="zh-CN" altLang="en-US" sz="2400"/>
              <a:t>系统比较适合核工业领域，因为它能够处理大规模的专业文档，</a:t>
            </a:r>
            <a:endParaRPr lang="en-US" altLang="zh-CN" sz="2400"/>
          </a:p>
          <a:p>
            <a:r>
              <a:rPr lang="en-US" altLang="zh-CN" sz="2400"/>
              <a:t>		</a:t>
            </a:r>
            <a:r>
              <a:rPr lang="zh-CN" altLang="en-US" sz="2400"/>
              <a:t>同时结合检索与生成的优势，确保高效且准确的回答。</a:t>
            </a:r>
          </a:p>
        </p:txBody>
      </p:sp>
    </p:spTree>
    <p:extLst>
      <p:ext uri="{BB962C8B-B14F-4D97-AF65-F5344CB8AC3E}">
        <p14:creationId xmlns:p14="http://schemas.microsoft.com/office/powerpoint/2010/main" val="426510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EFFF3CD-BDB8-41AC-B346-5873EE3B693A}"/>
              </a:ext>
            </a:extLst>
          </p:cNvPr>
          <p:cNvSpPr txBox="1"/>
          <p:nvPr/>
        </p:nvSpPr>
        <p:spPr>
          <a:xfrm>
            <a:off x="416560" y="365760"/>
            <a:ext cx="8402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/>
              <a:t>2</a:t>
            </a:r>
            <a:r>
              <a:rPr lang="zh-CN" altLang="en-US" sz="3600"/>
              <a:t>、</a:t>
            </a:r>
            <a:r>
              <a:rPr lang="en-US" altLang="zh-CN" sz="3600"/>
              <a:t>RAG</a:t>
            </a:r>
            <a:r>
              <a:rPr lang="zh-CN" altLang="en-US" sz="3600"/>
              <a:t>流程和</a:t>
            </a:r>
            <a:r>
              <a:rPr lang="en-US" altLang="zh-CN" sz="3600"/>
              <a:t>LangChain</a:t>
            </a:r>
            <a:r>
              <a:rPr lang="zh-CN" altLang="en-US" sz="3600"/>
              <a:t>简介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3468395-F71D-45E9-A4A2-05C6934BF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241822"/>
            <a:ext cx="8868410" cy="496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1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EFFF3CD-BDB8-41AC-B346-5873EE3B693A}"/>
              </a:ext>
            </a:extLst>
          </p:cNvPr>
          <p:cNvSpPr txBox="1"/>
          <p:nvPr/>
        </p:nvSpPr>
        <p:spPr>
          <a:xfrm>
            <a:off x="416560" y="365760"/>
            <a:ext cx="8402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/>
              <a:t>2</a:t>
            </a:r>
            <a:r>
              <a:rPr lang="zh-CN" altLang="en-US" sz="3600"/>
              <a:t>、</a:t>
            </a:r>
            <a:r>
              <a:rPr lang="en-US" altLang="zh-CN" sz="3600"/>
              <a:t>RAG</a:t>
            </a:r>
            <a:r>
              <a:rPr lang="zh-CN" altLang="en-US" sz="3600"/>
              <a:t>流程和</a:t>
            </a:r>
            <a:r>
              <a:rPr lang="en-US" altLang="zh-CN" sz="3600"/>
              <a:t>LangChain</a:t>
            </a:r>
            <a:r>
              <a:rPr lang="zh-CN" altLang="en-US" sz="3600"/>
              <a:t>简介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8780AF-22D2-4BF8-BCE7-4819B7AE2D16}"/>
              </a:ext>
            </a:extLst>
          </p:cNvPr>
          <p:cNvSpPr txBox="1"/>
          <p:nvPr/>
        </p:nvSpPr>
        <p:spPr>
          <a:xfrm>
            <a:off x="416559" y="1149816"/>
            <a:ext cx="116516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LangChain </a:t>
            </a:r>
            <a:r>
              <a:rPr lang="zh-CN" altLang="en-US"/>
              <a:t>是一个用于开发由大型语言模型（</a:t>
            </a:r>
            <a:r>
              <a:rPr lang="en-US" altLang="zh-CN"/>
              <a:t>LLM</a:t>
            </a:r>
            <a:r>
              <a:rPr lang="zh-CN" altLang="en-US"/>
              <a:t>）驱动的应用程序的框架。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LangChain</a:t>
            </a:r>
            <a:r>
              <a:rPr lang="zh-CN" altLang="en-US"/>
              <a:t>六大组件</a:t>
            </a:r>
            <a:r>
              <a:rPr lang="en-US" altLang="zh-CN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管理和优化</a:t>
            </a:r>
            <a:r>
              <a:rPr lang="en-US" altLang="zh-CN"/>
              <a:t>prompt</a:t>
            </a:r>
            <a:r>
              <a:rPr lang="zh-CN" altLang="en-US"/>
              <a:t>。不同的任务使用不同</a:t>
            </a:r>
            <a:r>
              <a:rPr lang="en-US" altLang="zh-CN"/>
              <a:t>prompt</a:t>
            </a:r>
            <a:r>
              <a:rPr lang="zh-CN" altLang="en-US"/>
              <a:t>，如何去管理和优化这些</a:t>
            </a:r>
            <a:r>
              <a:rPr lang="en-US" altLang="zh-CN"/>
              <a:t>prompt</a:t>
            </a:r>
            <a:r>
              <a:rPr lang="zh-CN" altLang="en-US"/>
              <a:t>是</a:t>
            </a:r>
            <a:r>
              <a:rPr lang="en-US" altLang="zh-CN"/>
              <a:t>langchain</a:t>
            </a:r>
            <a:r>
              <a:rPr lang="zh-CN" altLang="en-US"/>
              <a:t>的主要功能之一。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链，一个具体任务中不同子任务之间的一个调用。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数据增强的生成</a:t>
            </a:r>
            <a:r>
              <a:rPr lang="zh-CN" altLang="en-US"/>
              <a:t>，数据增强生成涉及特定类型的链，它首先与外部数据源交互以获取数据用于生成步骤。这方面的例子包括对长篇文字的总结和对特定数据源的提问</a:t>
            </a:r>
            <a:r>
              <a:rPr lang="en-US" altLang="zh-CN"/>
              <a:t>/</a:t>
            </a:r>
            <a:r>
              <a:rPr lang="zh-CN" altLang="en-US"/>
              <a:t>回答。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代理，根据不同的指令采取不同的行动，直到整个流程完成为止。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评估，生成式模型是难以用传统的指标来评估</a:t>
            </a:r>
            <a:r>
              <a:rPr lang="en-US" altLang="zh-CN"/>
              <a:t>,LangChain</a:t>
            </a:r>
            <a:r>
              <a:rPr lang="zh-CN" altLang="en-US"/>
              <a:t>提供了一些提示</a:t>
            </a:r>
            <a:r>
              <a:rPr lang="en-US" altLang="zh-CN"/>
              <a:t>/</a:t>
            </a:r>
            <a:r>
              <a:rPr lang="zh-CN" altLang="en-US"/>
              <a:t>链来协助这个工作。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内存，在整个流程中帮我们记忆大模型的状态。</a:t>
            </a:r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0FCEE9-ACFF-4ED9-B8EF-7F60B7AD373A}"/>
              </a:ext>
            </a:extLst>
          </p:cNvPr>
          <p:cNvSpPr txBox="1"/>
          <p:nvPr/>
        </p:nvSpPr>
        <p:spPr>
          <a:xfrm>
            <a:off x="416559" y="4426862"/>
            <a:ext cx="117754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LangChian</a:t>
            </a:r>
            <a:r>
              <a:rPr lang="zh-CN" altLang="en-US"/>
              <a:t>对构建</a:t>
            </a:r>
            <a:r>
              <a:rPr lang="en-US" altLang="zh-CN"/>
              <a:t>RAG</a:t>
            </a:r>
            <a:r>
              <a:rPr lang="zh-CN" altLang="en-US"/>
              <a:t>问答系统的有力支持：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首先，</a:t>
            </a:r>
            <a:r>
              <a:rPr lang="en-US" altLang="zh-CN"/>
              <a:t>langchain_community.document_loaders</a:t>
            </a:r>
            <a:r>
              <a:rPr lang="zh-CN" altLang="en-US"/>
              <a:t>中提供了对于各种数据来源（</a:t>
            </a:r>
            <a:r>
              <a:rPr lang="en-US" altLang="zh-CN"/>
              <a:t>PDF</a:t>
            </a:r>
            <a:r>
              <a:rPr lang="zh-CN" altLang="en-US"/>
              <a:t>、</a:t>
            </a:r>
            <a:r>
              <a:rPr lang="en-US" altLang="zh-CN"/>
              <a:t>Web Pages</a:t>
            </a:r>
            <a:r>
              <a:rPr lang="zh-CN" altLang="en-US"/>
              <a:t>、</a:t>
            </a:r>
            <a:r>
              <a:rPr lang="en-US" altLang="zh-CN"/>
              <a:t>CSV</a:t>
            </a:r>
            <a:r>
              <a:rPr lang="zh-CN" altLang="en-US"/>
              <a:t>等）的解析加载器；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其次，</a:t>
            </a:r>
            <a:r>
              <a:rPr lang="en-US" altLang="zh-CN"/>
              <a:t>langchain_text_splitters</a:t>
            </a:r>
            <a:r>
              <a:rPr lang="zh-CN" altLang="en-US"/>
              <a:t>提供了对于不同类型的文本（</a:t>
            </a:r>
            <a:r>
              <a:rPr lang="en-US" altLang="zh-CN"/>
              <a:t>TXT</a:t>
            </a:r>
            <a:r>
              <a:rPr lang="zh-CN" altLang="en-US"/>
              <a:t>、</a:t>
            </a:r>
            <a:r>
              <a:rPr lang="en-US" altLang="zh-CN"/>
              <a:t>HTML</a:t>
            </a:r>
            <a:r>
              <a:rPr lang="zh-CN" altLang="en-US"/>
              <a:t>、</a:t>
            </a:r>
            <a:r>
              <a:rPr lang="en-US" altLang="zh-CN"/>
              <a:t>MD</a:t>
            </a:r>
            <a:r>
              <a:rPr lang="zh-CN" altLang="en-US"/>
              <a:t>）的切分方法；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最后，集成了各类大模型和多种流行向量数据库的调用接口。</a:t>
            </a:r>
            <a:endParaRPr lang="en-US" altLang="zh-CN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2686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D1490-78C1-4058-8CC1-997C2FA8E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20" y="-328505"/>
            <a:ext cx="8534400" cy="1507067"/>
          </a:xfrm>
        </p:spPr>
        <p:txBody>
          <a:bodyPr/>
          <a:lstStyle/>
          <a:p>
            <a:r>
              <a:rPr lang="en-US" altLang="zh-CN" b="1"/>
              <a:t>3</a:t>
            </a:r>
            <a:r>
              <a:rPr lang="zh-CN" altLang="en-US" b="1"/>
              <a:t>、项目计划和预期成果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2F0CDB7-4F56-46FE-BFAC-300AD7255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" y="1178562"/>
            <a:ext cx="8937856" cy="41974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1A3382A-2F3B-417E-98EF-186F2BCB173D}"/>
              </a:ext>
            </a:extLst>
          </p:cNvPr>
          <p:cNvSpPr txBox="1"/>
          <p:nvPr/>
        </p:nvSpPr>
        <p:spPr>
          <a:xfrm>
            <a:off x="833120" y="5678974"/>
            <a:ext cx="822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前期成果：本地复现了一个简单的知识库</a:t>
            </a:r>
            <a:r>
              <a:rPr lang="en-US" altLang="zh-CN"/>
              <a:t>QA</a:t>
            </a:r>
            <a:r>
              <a:rPr lang="zh-CN" altLang="en-US"/>
              <a:t>问答系统，代码实操了</a:t>
            </a:r>
            <a:r>
              <a:rPr lang="en-US" altLang="zh-CN"/>
              <a:t>RAG</a:t>
            </a:r>
            <a:r>
              <a:rPr lang="zh-CN" altLang="en-US"/>
              <a:t>流程。</a:t>
            </a:r>
          </a:p>
        </p:txBody>
      </p:sp>
    </p:spTree>
    <p:extLst>
      <p:ext uri="{BB962C8B-B14F-4D97-AF65-F5344CB8AC3E}">
        <p14:creationId xmlns:p14="http://schemas.microsoft.com/office/powerpoint/2010/main" val="2601555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D1490-78C1-4058-8CC1-997C2FA8E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20" y="-328505"/>
            <a:ext cx="8534400" cy="1507067"/>
          </a:xfrm>
        </p:spPr>
        <p:txBody>
          <a:bodyPr/>
          <a:lstStyle/>
          <a:p>
            <a:r>
              <a:rPr lang="en-US" altLang="zh-CN" b="1"/>
              <a:t>3</a:t>
            </a:r>
            <a:r>
              <a:rPr lang="zh-CN" altLang="en-US" b="1"/>
              <a:t>、项目计划和预期成果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33ED01-427B-46A5-8E5D-3679D6A0EE71}"/>
              </a:ext>
            </a:extLst>
          </p:cNvPr>
          <p:cNvSpPr txBox="1"/>
          <p:nvPr/>
        </p:nvSpPr>
        <p:spPr>
          <a:xfrm>
            <a:off x="441325" y="982176"/>
            <a:ext cx="114173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4-5</a:t>
            </a:r>
            <a:r>
              <a:rPr lang="zh-CN" altLang="en-US" sz="2400"/>
              <a:t>月：在本地实现对常见类型文件的解析和存储，如</a:t>
            </a:r>
            <a:r>
              <a:rPr lang="en-US" altLang="zh-CN" sz="2400"/>
              <a:t>TXT</a:t>
            </a:r>
            <a:r>
              <a:rPr lang="zh-CN" altLang="en-US" sz="2400"/>
              <a:t>文件、</a:t>
            </a:r>
            <a:r>
              <a:rPr lang="en-US" altLang="zh-CN" sz="2400"/>
              <a:t>PDF</a:t>
            </a:r>
            <a:r>
              <a:rPr lang="zh-CN" altLang="en-US" sz="2400"/>
              <a:t>文件、</a:t>
            </a:r>
            <a:r>
              <a:rPr lang="en-US" altLang="zh-CN" sz="2400"/>
              <a:t>DOCX</a:t>
            </a:r>
            <a:r>
              <a:rPr lang="zh-CN" altLang="en-US" sz="2400"/>
              <a:t>文件、</a:t>
            </a:r>
            <a:r>
              <a:rPr lang="en-US" altLang="zh-CN" sz="2400"/>
              <a:t>PPTX</a:t>
            </a:r>
            <a:r>
              <a:rPr lang="zh-CN" altLang="en-US" sz="2400"/>
              <a:t>文件，之后实现控制台问答。</a:t>
            </a:r>
            <a:endParaRPr lang="en-US" altLang="zh-CN" sz="2400"/>
          </a:p>
          <a:p>
            <a:endParaRPr lang="zh-CN" altLang="en-US" sz="2400"/>
          </a:p>
          <a:p>
            <a:r>
              <a:rPr lang="en-US" altLang="zh-CN" sz="2400"/>
              <a:t>6-7</a:t>
            </a:r>
            <a:r>
              <a:rPr lang="zh-CN" altLang="en-US" sz="2400"/>
              <a:t>月：利用</a:t>
            </a:r>
            <a:r>
              <a:rPr lang="en-US" altLang="zh-CN" sz="2400"/>
              <a:t>LLM</a:t>
            </a:r>
            <a:r>
              <a:rPr lang="zh-CN" altLang="en-US" sz="2400"/>
              <a:t>从用户输入构建结构化查询，同时实现数据导入、数据检索进度可视化，检索结果可追溯，令牌使用量可视化。</a:t>
            </a:r>
            <a:endParaRPr lang="en-US" altLang="zh-CN" sz="2400"/>
          </a:p>
          <a:p>
            <a:endParaRPr lang="zh-CN" altLang="en-US" sz="2400"/>
          </a:p>
          <a:p>
            <a:r>
              <a:rPr lang="en-US" altLang="zh-CN" sz="2400"/>
              <a:t>8-9</a:t>
            </a:r>
            <a:r>
              <a:rPr lang="zh-CN" altLang="en-US" sz="2400"/>
              <a:t>月：学习</a:t>
            </a:r>
            <a:r>
              <a:rPr lang="en-US" altLang="zh-CN" sz="2400"/>
              <a:t>Streamlit</a:t>
            </a:r>
            <a:r>
              <a:rPr lang="zh-CN" altLang="en-US" sz="2400"/>
              <a:t>前端框架，将问答模型部署为</a:t>
            </a:r>
            <a:r>
              <a:rPr lang="en-US" altLang="zh-CN" sz="2400"/>
              <a:t>Web</a:t>
            </a:r>
            <a:r>
              <a:rPr lang="zh-CN" altLang="en-US" sz="2400"/>
              <a:t>服务，设计必备的用户界面，包含知识库管理、模型选择、问答（对话）界面管理。</a:t>
            </a:r>
            <a:endParaRPr lang="en-US" altLang="zh-CN" sz="2400"/>
          </a:p>
          <a:p>
            <a:endParaRPr lang="zh-CN" altLang="en-US" sz="2400"/>
          </a:p>
          <a:p>
            <a:r>
              <a:rPr lang="en-US" altLang="zh-CN" sz="2400"/>
              <a:t>10-12</a:t>
            </a:r>
            <a:r>
              <a:rPr lang="zh-CN" altLang="en-US" sz="2400"/>
              <a:t>月：实现</a:t>
            </a:r>
            <a:r>
              <a:rPr lang="en-US" altLang="zh-CN" sz="2400"/>
              <a:t>Web</a:t>
            </a:r>
            <a:r>
              <a:rPr lang="zh-CN" altLang="en-US" sz="2400"/>
              <a:t>界面的各种功能。</a:t>
            </a:r>
            <a:endParaRPr lang="en-US" altLang="zh-CN" sz="2400"/>
          </a:p>
          <a:p>
            <a:endParaRPr lang="zh-CN" altLang="en-US" sz="2400"/>
          </a:p>
          <a:p>
            <a:r>
              <a:rPr lang="zh-CN" altLang="en-US" sz="2400"/>
              <a:t>次年</a:t>
            </a:r>
            <a:r>
              <a:rPr lang="en-US" altLang="zh-CN" sz="2400"/>
              <a:t>1</a:t>
            </a:r>
            <a:r>
              <a:rPr lang="zh-CN" altLang="en-US" sz="2400"/>
              <a:t>月</a:t>
            </a:r>
            <a:r>
              <a:rPr lang="en-US" altLang="zh-CN" sz="2400"/>
              <a:t>-2</a:t>
            </a:r>
            <a:r>
              <a:rPr lang="zh-CN" altLang="en-US" sz="2400"/>
              <a:t>月：增加文件解析范围，比如</a:t>
            </a:r>
            <a:r>
              <a:rPr lang="en-US" altLang="zh-CN" sz="2400"/>
              <a:t>CSV</a:t>
            </a:r>
            <a:r>
              <a:rPr lang="zh-CN" altLang="en-US" sz="2400"/>
              <a:t>文件、</a:t>
            </a:r>
            <a:r>
              <a:rPr lang="en-US" altLang="zh-CN" sz="2400"/>
              <a:t>HTML</a:t>
            </a:r>
            <a:r>
              <a:rPr lang="zh-CN" altLang="en-US" sz="2400"/>
              <a:t>文件、</a:t>
            </a:r>
            <a:r>
              <a:rPr lang="en-US" altLang="zh-CN" sz="2400"/>
              <a:t>MD</a:t>
            </a:r>
            <a:r>
              <a:rPr lang="zh-CN" altLang="en-US" sz="2400"/>
              <a:t>文件。</a:t>
            </a:r>
            <a:endParaRPr lang="en-US" altLang="zh-CN" sz="2400"/>
          </a:p>
          <a:p>
            <a:endParaRPr lang="zh-CN" altLang="en-US" sz="2400"/>
          </a:p>
          <a:p>
            <a:r>
              <a:rPr lang="zh-CN" altLang="en-US" sz="2400"/>
              <a:t>次年</a:t>
            </a:r>
            <a:r>
              <a:rPr lang="en-US" altLang="zh-CN" sz="2400"/>
              <a:t>3</a:t>
            </a:r>
            <a:r>
              <a:rPr lang="zh-CN" altLang="en-US" sz="2400"/>
              <a:t>月：增加代理功能等优化工作。</a:t>
            </a:r>
          </a:p>
        </p:txBody>
      </p:sp>
    </p:spTree>
    <p:extLst>
      <p:ext uri="{BB962C8B-B14F-4D97-AF65-F5344CB8AC3E}">
        <p14:creationId xmlns:p14="http://schemas.microsoft.com/office/powerpoint/2010/main" val="263399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D1490-78C1-4058-8CC1-997C2FA8E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720" y="-328505"/>
            <a:ext cx="8534400" cy="1507067"/>
          </a:xfrm>
        </p:spPr>
        <p:txBody>
          <a:bodyPr/>
          <a:lstStyle/>
          <a:p>
            <a:r>
              <a:rPr lang="en-US" altLang="zh-CN" b="1"/>
              <a:t>3</a:t>
            </a:r>
            <a:r>
              <a:rPr lang="zh-CN" altLang="en-US" b="1"/>
              <a:t>、项目计划和预期成果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33ED01-427B-46A5-8E5D-3679D6A0EE71}"/>
              </a:ext>
            </a:extLst>
          </p:cNvPr>
          <p:cNvSpPr txBox="1"/>
          <p:nvPr/>
        </p:nvSpPr>
        <p:spPr>
          <a:xfrm>
            <a:off x="0" y="5440332"/>
            <a:ext cx="11834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预期成果：</a:t>
            </a:r>
            <a:r>
              <a:rPr lang="en-US" altLang="zh-CN" sz="2400"/>
              <a:t>1</a:t>
            </a:r>
            <a:r>
              <a:rPr lang="zh-CN" altLang="en-US" sz="2400"/>
              <a:t>、成功构建出一个</a:t>
            </a:r>
            <a:r>
              <a:rPr lang="en-US" altLang="zh-CN" sz="2400"/>
              <a:t>Web</a:t>
            </a:r>
            <a:r>
              <a:rPr lang="zh-CN" altLang="en-US" sz="2400"/>
              <a:t>端问答模型，它能基于现有知识库对用户在核工业</a:t>
            </a:r>
            <a:r>
              <a:rPr lang="en-US" altLang="zh-CN" sz="2400"/>
              <a:t>			  </a:t>
            </a:r>
            <a:r>
              <a:rPr lang="zh-CN" altLang="en-US" sz="2400"/>
              <a:t>领域的相关提问作出流畅回答，支持检索进度和检索结果可视化。</a:t>
            </a:r>
            <a:endParaRPr lang="en-US" altLang="zh-CN" sz="2400"/>
          </a:p>
          <a:p>
            <a:r>
              <a:rPr lang="en-US" altLang="zh-CN" sz="2400"/>
              <a:t>			  2</a:t>
            </a:r>
            <a:r>
              <a:rPr lang="zh-CN" altLang="en-US" sz="2400"/>
              <a:t>、允许用户上传各种格式的补充文件，允许用户自定义生成模型。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8316B23-0D91-4422-9CF8-199CA0F28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45" y="817503"/>
            <a:ext cx="9387840" cy="453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4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AE4A726-7D9E-4C0F-859C-E1A7E8062887}"/>
              </a:ext>
            </a:extLst>
          </p:cNvPr>
          <p:cNvSpPr txBox="1"/>
          <p:nvPr/>
        </p:nvSpPr>
        <p:spPr>
          <a:xfrm>
            <a:off x="4302760" y="2134023"/>
            <a:ext cx="3586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/>
              <a:t>感谢！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6538B9-7FC1-4C7F-8C38-17E380ADDF23}"/>
              </a:ext>
            </a:extLst>
          </p:cNvPr>
          <p:cNvSpPr txBox="1">
            <a:spLocks/>
          </p:cNvSpPr>
          <p:nvPr/>
        </p:nvSpPr>
        <p:spPr>
          <a:xfrm>
            <a:off x="6966902" y="4723977"/>
            <a:ext cx="3497263" cy="90910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/>
                </a:solidFill>
              </a:rPr>
              <a:t>答辩人： 软</a:t>
            </a:r>
            <a:r>
              <a:rPr lang="en-US" altLang="zh-CN">
                <a:solidFill>
                  <a:schemeClr val="tx1"/>
                </a:solidFill>
              </a:rPr>
              <a:t>2210 </a:t>
            </a:r>
            <a:r>
              <a:rPr lang="zh-CN" altLang="en-US">
                <a:solidFill>
                  <a:schemeClr val="tx1"/>
                </a:solidFill>
              </a:rPr>
              <a:t>徐远达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指导老师：谢玲</a:t>
            </a:r>
          </a:p>
        </p:txBody>
      </p:sp>
    </p:spTree>
    <p:extLst>
      <p:ext uri="{BB962C8B-B14F-4D97-AF65-F5344CB8AC3E}">
        <p14:creationId xmlns:p14="http://schemas.microsoft.com/office/powerpoint/2010/main" val="3216165321"/>
      </p:ext>
    </p:extLst>
  </p:cSld>
  <p:clrMapOvr>
    <a:masterClrMapping/>
  </p:clrMapOvr>
</p:sld>
</file>

<file path=ppt/theme/theme1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457</TotalTime>
  <Words>877</Words>
  <Application>Microsoft Office PowerPoint</Application>
  <PresentationFormat>宽屏</PresentationFormat>
  <Paragraphs>82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切片</vt:lpstr>
      <vt:lpstr>核工业专业知识问答模型构建</vt:lpstr>
      <vt:lpstr>目录</vt:lpstr>
      <vt:lpstr>1、项目背景和方案选择</vt:lpstr>
      <vt:lpstr>1、项目背景和方案选择</vt:lpstr>
      <vt:lpstr>PowerPoint 演示文稿</vt:lpstr>
      <vt:lpstr>PowerPoint 演示文稿</vt:lpstr>
      <vt:lpstr>3、项目计划和预期成果</vt:lpstr>
      <vt:lpstr>3、项目计划和预期成果</vt:lpstr>
      <vt:lpstr>3、项目计划和预期成果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核工业专业知识问答模型构建</dc:title>
  <dc:creator>徐 远达</dc:creator>
  <cp:lastModifiedBy>徐 远达</cp:lastModifiedBy>
  <cp:revision>53</cp:revision>
  <dcterms:created xsi:type="dcterms:W3CDTF">2025-03-22T06:11:15Z</dcterms:created>
  <dcterms:modified xsi:type="dcterms:W3CDTF">2025-03-25T06:11:19Z</dcterms:modified>
</cp:coreProperties>
</file>
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7" r:id="rId9"/>
    <p:sldId id="268" r:id="rId10"/>
    <p:sldId id="269" r:id="rId11"/>
    <p:sldId id="270" r:id="rId12"/>
    <p:sldId id="27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359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各位评委老师，大家中午好！我是我们项目的负责人徐远达，我们的项目是核工业知识问答系统的设计与实现。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今天的答辩的内容分为</a:t>
            </a:r>
            <a:r>
              <a:rPr lang="en-US" altLang="zh-CN"/>
              <a:t>3</a:t>
            </a:r>
            <a:r>
              <a:rPr lang="zh-CN" altLang="en-US"/>
              <a:t>块，</a:t>
            </a:r>
            <a:r>
              <a:rPr lang="en-US" altLang="zh-CN"/>
              <a:t>1 </a:t>
            </a:r>
            <a:r>
              <a:rPr lang="zh-CN" altLang="en-US"/>
              <a:t>项目背景、</a:t>
            </a:r>
            <a:r>
              <a:rPr lang="en-US" altLang="zh-CN"/>
              <a:t>2 </a:t>
            </a:r>
            <a:r>
              <a:rPr lang="zh-CN" altLang="en-US"/>
              <a:t>项目进展 </a:t>
            </a:r>
            <a:r>
              <a:rPr lang="en-US" altLang="zh-CN"/>
              <a:t>3 </a:t>
            </a:r>
            <a:r>
              <a:rPr lang="zh-CN" altLang="en-US"/>
              <a:t>未来计划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项目进展这一块主要解释我们的项目解决什么问题。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我们这个问答系统主要通过</a:t>
            </a:r>
            <a:r>
              <a:rPr lang="en-US" altLang="zh-CN"/>
              <a:t>RAG</a:t>
            </a:r>
            <a:r>
              <a:rPr lang="zh-CN" altLang="en-US"/>
              <a:t>思路完成基于文档内容的问答，首先可以解决核工业传统文档管理系统效率低下，特定技术内容查找筛选困难的问题，</a:t>
            </a:r>
            <a:endParaRPr lang="en-US" altLang="zh-CN"/>
          </a:p>
          <a:p>
            <a:r>
              <a:rPr lang="zh-CN" altLang="en-US"/>
              <a:t>其次能够提供文档内容理解服务，降低核工业人才的培养成本，最后可以集成操作标注、应急流程等关键知识，为工作人员提供实时支持！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项目进展，第一部分是文档解析与知识库管理。</a:t>
            </a:r>
            <a:endParaRPr lang="en-US" altLang="zh-CN"/>
          </a:p>
          <a:p>
            <a:r>
              <a:rPr lang="zh-CN" altLang="en-US"/>
              <a:t>我们首先是完成了各种常见格式文档的内容提取和向量化存储，针对中文优化了文本切分策略，确保内容语义完整，我们尝试了多种付费的文档解析服务，比如</a:t>
            </a:r>
            <a:r>
              <a:rPr lang="en-US" altLang="zh-CN"/>
              <a:t>Unstructured</a:t>
            </a:r>
            <a:r>
              <a:rPr lang="zh-CN" altLang="en-US"/>
              <a:t>库、</a:t>
            </a:r>
            <a:r>
              <a:rPr lang="en-US" altLang="zh-CN"/>
              <a:t>Azure</a:t>
            </a:r>
            <a:r>
              <a:rPr lang="zh-CN" altLang="en-US"/>
              <a:t>，最终基于</a:t>
            </a:r>
            <a:r>
              <a:rPr lang="en-US" altLang="zh-CN"/>
              <a:t>LangChain</a:t>
            </a:r>
            <a:r>
              <a:rPr lang="zh-CN" altLang="en-US"/>
              <a:t>集成的文档加载器实现了文本内容的高效提取。</a:t>
            </a:r>
            <a:br>
              <a:rPr lang="en-US" altLang="zh-CN"/>
            </a:br>
            <a:r>
              <a:rPr lang="zh-CN" altLang="en-US"/>
              <a:t>其次，我们完成了数据库设计工作，允许用户创建管理知识库</a:t>
            </a:r>
            <a:br>
              <a:rPr lang="en-US" altLang="zh-CN"/>
            </a:br>
            <a:r>
              <a:rPr lang="zh-CN" altLang="en-US"/>
              <a:t>最后，我们利用</a:t>
            </a:r>
            <a:r>
              <a:rPr lang="en-US" altLang="zh-CN"/>
              <a:t>Streamlit</a:t>
            </a:r>
            <a:r>
              <a:rPr lang="zh-CN" altLang="en-US"/>
              <a:t>框架快速搭建起前端页面，实现了知识库管理界面，允许用户管理知识库内的文件，包括文件上传、一键解析、文件下载。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项目进展第二部分是实现基于知识库的多轮问答，我们基于</a:t>
            </a:r>
            <a:r>
              <a:rPr lang="en-US" altLang="zh-CN"/>
              <a:t>LangChain</a:t>
            </a:r>
            <a:r>
              <a:rPr lang="zh-CN" altLang="en-US"/>
              <a:t>框架的</a:t>
            </a:r>
            <a:r>
              <a:rPr lang="en-US" altLang="zh-CN"/>
              <a:t>langgraph</a:t>
            </a:r>
            <a:r>
              <a:rPr lang="zh-CN" altLang="en-US"/>
              <a:t>类设计了</a:t>
            </a:r>
            <a:r>
              <a:rPr lang="en-US" altLang="zh-CN"/>
              <a:t>RAG</a:t>
            </a:r>
            <a:r>
              <a:rPr lang="zh-CN" altLang="en-US"/>
              <a:t>问答流程，将一次问答过程拆分为</a:t>
            </a:r>
            <a:r>
              <a:rPr lang="en-US" altLang="zh-CN"/>
              <a:t>3</a:t>
            </a:r>
            <a:r>
              <a:rPr lang="zh-CN" altLang="en-US"/>
              <a:t>个节点，调用</a:t>
            </a:r>
            <a:r>
              <a:rPr lang="en-US" altLang="zh-CN"/>
              <a:t>LLM</a:t>
            </a:r>
            <a:r>
              <a:rPr lang="zh-CN" altLang="en-US"/>
              <a:t>根据用户提问返回检索工具调用请求，再根据工具调用结果构建对话历史获得最终回答。同时，我们还基于</a:t>
            </a:r>
            <a:r>
              <a:rPr lang="en-US" altLang="zh-CN"/>
              <a:t>LangChain</a:t>
            </a:r>
            <a:r>
              <a:rPr lang="zh-CN" altLang="en-US"/>
              <a:t>接口完成了检索接口、令牌使用量可视化。此外，我们还基于</a:t>
            </a:r>
            <a:r>
              <a:rPr lang="en-US" altLang="zh-CN"/>
              <a:t>PostgreSQL</a:t>
            </a:r>
            <a:r>
              <a:rPr lang="zh-CN" altLang="en-US"/>
              <a:t>数据库完成了对话历史的持久化和对话管理。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55777" y="1682496"/>
            <a:ext cx="7339583" cy="1373816"/>
          </a:xfrm>
          <a:prstGeom prst="rect">
            <a:avLst/>
          </a:prstGeom>
          <a:noFill/>
          <a:ln/>
          <a:effectLst>
            <a:outerShdw blurRad="19050" dist="38100" dir="2700000" algn="bl" rotWithShape="0">
              <a:srgbClr val="0668DD">
                <a:alpha val="34118"/>
              </a:srgbClr>
            </a:outerShdw>
          </a:effectLst>
        </p:spPr>
        <p:txBody>
          <a:bodyPr wrap="square" lIns="91440" tIns="91440" rIns="91440" bIns="91440" rtlCol="0" anchor="b"/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核工业</a:t>
            </a:r>
            <a:r>
              <a:rPr lang="zh-CN" altLang="en-US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r>
              <a:rPr lang="en-US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问答系统</a:t>
            </a:r>
            <a:r>
              <a:rPr lang="zh-CN" altLang="en-US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</a:t>
            </a:r>
            <a:r>
              <a:rPr lang="en-US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zh-CN" altLang="en-US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r>
              <a:rPr lang="en-US" altLang="zh-CN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lang="zh-CN" altLang="en-US" sz="3600" b="1" kern="0" spc="7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中期答辩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643246" y="4094978"/>
            <a:ext cx="1839262" cy="42646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3333"/>
              </a:lnSpc>
              <a:spcBef>
                <a:spcPts val="360"/>
              </a:spcBef>
              <a:buNone/>
            </a:pPr>
            <a:r>
              <a:rPr lang="zh-CN" altLang="en-US" sz="1296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</a:rPr>
              <a:t>汇报人：徐远达</a:t>
            </a:r>
            <a:endParaRPr lang="en-US" sz="1440" dirty="0"/>
          </a:p>
        </p:txBody>
      </p:sp>
      <p:pic>
        <p:nvPicPr>
          <p:cNvPr id="7" name="Image 2" descr="https://sgw-dx.xf-yun.com/api/v1/sparkdesk/_114eea2440d846039397079bd0df1fd8_1751269255236-08546485673962042.png?authorization=c2ltcGxlLWp3dCBhaz1zcGFya2Rlc2s4MDAwMDAwMDAwMDE7ZXhwPTMzMjgwNjkyNjI7YWxnbz1obWFjLXNoYTI1NjtzaWc9SkJ0TUkvN1hrV0gwTmdQUEZMcXAwQlQ5QW1DWGJtMlhjTmlvODh1Q1U2OD0=&amp;x_location=7YfmxI7B7uKO7jlRxIftd6UYgLD=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686242" y="2680825"/>
            <a:ext cx="723766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8639" y="1816976"/>
            <a:ext cx="2629023" cy="5279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0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8223" y="1700560"/>
            <a:ext cx="713232" cy="73391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altLang="zh-CN" sz="3200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sz="3200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68639" y="2644079"/>
            <a:ext cx="2741482" cy="5279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08223" y="2527663"/>
            <a:ext cx="713232" cy="73391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200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8639" y="3516955"/>
            <a:ext cx="2629023" cy="5279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0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未来计划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08223" y="3400539"/>
            <a:ext cx="713232" cy="73391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200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9074" y="429544"/>
            <a:ext cx="1622412" cy="10607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608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05338" y="2524665"/>
            <a:ext cx="4248075" cy="5613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44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898962" y="1577238"/>
            <a:ext cx="766638" cy="790040"/>
          </a:xfrm>
          <a:custGeom>
            <a:avLst/>
            <a:gdLst/>
            <a:ahLst/>
            <a:cxnLst/>
            <a:rect l="l" t="t" r="r" b="b"/>
            <a:pathLst>
              <a:path w="790040" h="790040">
                <a:moveTo>
                  <a:pt x="98755" y="0"/>
                </a:moveTo>
                <a:moveTo>
                  <a:pt x="98755" y="0"/>
                </a:moveTo>
                <a:lnTo>
                  <a:pt x="691285" y="0"/>
                </a:lnTo>
                <a:quadBezTo>
                  <a:pt x="790040" y="0"/>
                  <a:pt x="790040" y="98755"/>
                </a:quadBezTo>
                <a:lnTo>
                  <a:pt x="790040" y="691285"/>
                </a:lnTo>
                <a:quadBezTo>
                  <a:pt x="790040" y="790040"/>
                  <a:pt x="691285" y="790040"/>
                </a:quadBezTo>
                <a:lnTo>
                  <a:pt x="98755" y="790040"/>
                </a:lnTo>
                <a:quadBezTo>
                  <a:pt x="0" y="790040"/>
                  <a:pt x="0" y="691285"/>
                </a:quadBezTo>
                <a:lnTo>
                  <a:pt x="0" y="98755"/>
                </a:lnTo>
                <a:quadBezTo>
                  <a:pt x="0" y="0"/>
                  <a:pt x="98755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222817" y="1577238"/>
            <a:ext cx="2149041" cy="77784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466" y="136637"/>
            <a:ext cx="7782550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一、项目背景：基于</a:t>
            </a:r>
            <a:r>
              <a:rPr lang="en-US" altLang="zh-CN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框架完成</a:t>
            </a:r>
            <a:r>
              <a:rPr 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核工业</a:t>
            </a: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知识问答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90" y="310373"/>
            <a:ext cx="256032" cy="2560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466" y="3371906"/>
            <a:ext cx="2706517" cy="592750"/>
          </a:xfrm>
          <a:custGeom>
            <a:avLst/>
            <a:gdLst/>
            <a:ahLst/>
            <a:cxnLst/>
            <a:rect l="l" t="t" r="r" b="b"/>
            <a:pathLst>
              <a:path w="2706517" h="592750">
                <a:moveTo>
                  <a:pt x="174749" y="0"/>
                </a:moveTo>
                <a:moveTo>
                  <a:pt x="174749" y="0"/>
                </a:moveTo>
                <a:lnTo>
                  <a:pt x="2531767" y="0"/>
                </a:lnTo>
                <a:quadBezTo>
                  <a:pt x="2706517" y="0"/>
                  <a:pt x="2706517" y="174749"/>
                </a:quadBezTo>
                <a:lnTo>
                  <a:pt x="2706517" y="418000"/>
                </a:lnTo>
                <a:quadBezTo>
                  <a:pt x="2706517" y="592750"/>
                  <a:pt x="2531767" y="592750"/>
                </a:quadBezTo>
                <a:lnTo>
                  <a:pt x="174749" y="592750"/>
                </a:lnTo>
                <a:quadBezTo>
                  <a:pt x="0" y="592750"/>
                  <a:pt x="0" y="418000"/>
                </a:quadBezTo>
                <a:lnTo>
                  <a:pt x="0" y="174749"/>
                </a:lnTo>
                <a:quadBezTo>
                  <a:pt x="0" y="0"/>
                  <a:pt x="174749" y="0"/>
                </a:quadBezTo>
                <a:close/>
              </a:path>
            </a:pathLst>
          </a:custGeom>
          <a:solidFill>
            <a:srgbClr val="0668DD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01329" y="3384816"/>
            <a:ext cx="2236791" cy="5965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42184" y="2477340"/>
            <a:ext cx="1845352" cy="592750"/>
          </a:xfrm>
          <a:custGeom>
            <a:avLst/>
            <a:gdLst/>
            <a:ahLst/>
            <a:cxnLst/>
            <a:rect l="l" t="t" r="r" b="b"/>
            <a:pathLst>
              <a:path w="1845352" h="592750">
                <a:moveTo>
                  <a:pt x="174749" y="0"/>
                </a:moveTo>
                <a:moveTo>
                  <a:pt x="174749" y="0"/>
                </a:moveTo>
                <a:lnTo>
                  <a:pt x="1670603" y="0"/>
                </a:lnTo>
                <a:quadBezTo>
                  <a:pt x="1845352" y="0"/>
                  <a:pt x="1845352" y="174749"/>
                </a:quadBezTo>
                <a:lnTo>
                  <a:pt x="1845352" y="418000"/>
                </a:lnTo>
                <a:quadBezTo>
                  <a:pt x="1845352" y="592750"/>
                  <a:pt x="1670603" y="592750"/>
                </a:quadBezTo>
                <a:lnTo>
                  <a:pt x="174749" y="592750"/>
                </a:lnTo>
                <a:quadBezTo>
                  <a:pt x="0" y="592750"/>
                  <a:pt x="0" y="418000"/>
                </a:quadBezTo>
                <a:lnTo>
                  <a:pt x="0" y="174749"/>
                </a:lnTo>
                <a:quadBezTo>
                  <a:pt x="0" y="0"/>
                  <a:pt x="174749" y="0"/>
                </a:quadBezTo>
                <a:close/>
              </a:path>
            </a:pathLst>
          </a:custGeom>
          <a:solidFill>
            <a:srgbClr val="0668DD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15535" y="2490251"/>
            <a:ext cx="1498650" cy="5965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331055" y="1350104"/>
            <a:ext cx="1140763" cy="592750"/>
          </a:xfrm>
          <a:custGeom>
            <a:avLst/>
            <a:gdLst/>
            <a:ahLst/>
            <a:cxnLst/>
            <a:rect l="l" t="t" r="r" b="b"/>
            <a:pathLst>
              <a:path w="1140763" h="592750">
                <a:moveTo>
                  <a:pt x="174749" y="0"/>
                </a:moveTo>
                <a:moveTo>
                  <a:pt x="174749" y="0"/>
                </a:moveTo>
                <a:lnTo>
                  <a:pt x="966014" y="0"/>
                </a:lnTo>
                <a:quadBezTo>
                  <a:pt x="1140763" y="0"/>
                  <a:pt x="1140763" y="174749"/>
                </a:quadBezTo>
                <a:lnTo>
                  <a:pt x="1140763" y="418000"/>
                </a:lnTo>
                <a:quadBezTo>
                  <a:pt x="1140763" y="592750"/>
                  <a:pt x="966014" y="592750"/>
                </a:quadBezTo>
                <a:lnTo>
                  <a:pt x="174749" y="592750"/>
                </a:lnTo>
                <a:quadBezTo>
                  <a:pt x="0" y="592750"/>
                  <a:pt x="0" y="418000"/>
                </a:quadBezTo>
                <a:lnTo>
                  <a:pt x="0" y="174749"/>
                </a:lnTo>
                <a:quadBezTo>
                  <a:pt x="0" y="0"/>
                  <a:pt x="174749" y="0"/>
                </a:quadBezTo>
                <a:close/>
              </a:path>
            </a:pathLst>
          </a:custGeom>
          <a:solidFill>
            <a:srgbClr val="0668DD">
              <a:alpha val="4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1509998" y="1363015"/>
            <a:ext cx="782877" cy="59657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15323" y="1252822"/>
            <a:ext cx="4765364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600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</a:t>
            </a:r>
            <a:r>
              <a:rPr lang="en-US" sz="1600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核工业</a:t>
            </a:r>
            <a:r>
              <a:rPr lang="zh-CN" altLang="en-US" sz="1600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r>
              <a:rPr lang="en-US" sz="1600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管理痛点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5323" y="1483772"/>
            <a:ext cx="5023877" cy="8015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核工业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专业性强</a:t>
            </a:r>
            <a:r>
              <a:rPr lang="en-US" sz="105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、维度广、更新快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，传统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文档管理系统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效率低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下、筛查困难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。本系统通过</a:t>
            </a:r>
            <a:r>
              <a:rPr lang="en-US" altLang="zh-CN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OCR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技术解析专业文档，以知识库为单位解析管理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分散知识，用户可用自然语言提问获取精准答案。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784028" y="3193124"/>
            <a:ext cx="4765364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保障核工业安全稳定运行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784028" y="3424930"/>
            <a:ext cx="4753692" cy="5898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能够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集成操作标准</a:t>
            </a:r>
            <a:r>
              <a:rPr lang="en-US" sz="105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、应急流程等关键知识，为工作人员提供实时支持，降低信息获取延迟引发的安全风险。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84028" y="2305068"/>
            <a:ext cx="4765364" cy="4308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600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降低核工业人才培养成本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784028" y="2538784"/>
            <a:ext cx="4753692" cy="58984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31429"/>
              </a:lnSpc>
              <a:spcBef>
                <a:spcPts val="360"/>
              </a:spcBef>
              <a:buNone/>
            </a:pP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支持以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形式提供技术文档理解学习服务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核工业新从业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员工可随时查询</a:t>
            </a:r>
            <a:r>
              <a:rPr lang="zh-CN" alt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、提问、学习</a:t>
            </a:r>
            <a:r>
              <a:rPr lang="en-US" sz="105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050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缩短培养周期，降低企业投入。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38324" y="2813506"/>
            <a:ext cx="4377751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项目进展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938222" y="1866079"/>
            <a:ext cx="790040" cy="790040"/>
          </a:xfrm>
          <a:custGeom>
            <a:avLst/>
            <a:gdLst/>
            <a:ahLst/>
            <a:cxnLst/>
            <a:rect l="l" t="t" r="r" b="b"/>
            <a:pathLst>
              <a:path w="790040" h="790040">
                <a:moveTo>
                  <a:pt x="98755" y="0"/>
                </a:moveTo>
                <a:moveTo>
                  <a:pt x="98755" y="0"/>
                </a:moveTo>
                <a:lnTo>
                  <a:pt x="691285" y="0"/>
                </a:lnTo>
                <a:quadBezTo>
                  <a:pt x="790040" y="0"/>
                  <a:pt x="790040" y="98755"/>
                </a:quadBezTo>
                <a:lnTo>
                  <a:pt x="790040" y="691285"/>
                </a:lnTo>
                <a:quadBezTo>
                  <a:pt x="790040" y="790040"/>
                  <a:pt x="691285" y="790040"/>
                </a:quadBezTo>
                <a:lnTo>
                  <a:pt x="98755" y="790040"/>
                </a:lnTo>
                <a:quadBezTo>
                  <a:pt x="0" y="790040"/>
                  <a:pt x="0" y="691285"/>
                </a:quadBezTo>
                <a:lnTo>
                  <a:pt x="0" y="98755"/>
                </a:lnTo>
                <a:quadBezTo>
                  <a:pt x="0" y="0"/>
                  <a:pt x="98755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219879" y="1866079"/>
            <a:ext cx="2214642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466" y="136637"/>
            <a:ext cx="7782550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二、项目进展：文档解析与知识库管理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90" y="310373"/>
            <a:ext cx="25603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91063" y="1588162"/>
            <a:ext cx="2869443" cy="2814623"/>
          </a:xfrm>
          <a:custGeom>
            <a:avLst/>
            <a:gdLst/>
            <a:ahLst/>
            <a:cxnLst/>
            <a:rect l="l" t="t" r="r" b="b"/>
            <a:pathLst>
              <a:path w="2869443" h="2855179">
                <a:moveTo>
                  <a:pt x="0" y="0"/>
                </a:moveTo>
                <a:moveTo>
                  <a:pt x="0" y="0"/>
                </a:moveTo>
                <a:lnTo>
                  <a:pt x="2869443" y="0"/>
                </a:lnTo>
                <a:quadBezTo>
                  <a:pt x="2869443" y="0"/>
                  <a:pt x="2869443" y="0"/>
                </a:quadBezTo>
                <a:lnTo>
                  <a:pt x="2869443" y="2855179"/>
                </a:lnTo>
                <a:quadBezTo>
                  <a:pt x="2869443" y="2855179"/>
                  <a:pt x="2869443" y="2855179"/>
                </a:quadBezTo>
                <a:lnTo>
                  <a:pt x="0" y="2855179"/>
                </a:lnTo>
                <a:quadBezTo>
                  <a:pt x="0" y="2855179"/>
                  <a:pt x="0" y="2855179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0668DD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191063" y="785794"/>
            <a:ext cx="2869443" cy="790079"/>
          </a:xfrm>
          <a:custGeom>
            <a:avLst/>
            <a:gdLst/>
            <a:ahLst/>
            <a:cxnLst/>
            <a:rect l="l" t="t" r="r" b="b"/>
            <a:pathLst>
              <a:path w="2869443" h="716732">
                <a:moveTo>
                  <a:pt x="0" y="0"/>
                </a:moveTo>
                <a:moveTo>
                  <a:pt x="0" y="0"/>
                </a:moveTo>
                <a:lnTo>
                  <a:pt x="2869443" y="0"/>
                </a:lnTo>
                <a:quadBezTo>
                  <a:pt x="2869443" y="0"/>
                  <a:pt x="2869443" y="0"/>
                </a:quadBezTo>
                <a:lnTo>
                  <a:pt x="2869443" y="716732"/>
                </a:lnTo>
                <a:quadBezTo>
                  <a:pt x="2869443" y="716732"/>
                  <a:pt x="2869443" y="716732"/>
                </a:quadBezTo>
                <a:lnTo>
                  <a:pt x="0" y="716732"/>
                </a:lnTo>
                <a:quadBezTo>
                  <a:pt x="0" y="716732"/>
                  <a:pt x="0" y="716732"/>
                </a:quadBezTo>
                <a:lnTo>
                  <a:pt x="0" y="0"/>
                </a:lnTo>
                <a:quadBezTo>
                  <a:pt x="0" y="0"/>
                  <a:pt x="0" y="0"/>
                </a:quadBezTo>
                <a:close/>
              </a:path>
            </a:pathLst>
          </a:custGeom>
          <a:solidFill>
            <a:srgbClr val="0668DD"/>
          </a:solidFill>
          <a:ln/>
        </p:spPr>
      </p:sp>
      <p:sp>
        <p:nvSpPr>
          <p:cNvPr id="6" name="Text 3"/>
          <p:cNvSpPr/>
          <p:nvPr/>
        </p:nvSpPr>
        <p:spPr>
          <a:xfrm>
            <a:off x="6250839" y="1005768"/>
            <a:ext cx="262945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72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文件解析与</a:t>
            </a:r>
            <a:r>
              <a:rPr lang="zh-CN" altLang="en-US" sz="172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知识库管理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6255537" y="1688122"/>
            <a:ext cx="2812648" cy="26667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latinLnBrk="1">
              <a:lnSpc>
                <a:spcPct val="106667"/>
              </a:lnSpc>
              <a:spcBef>
                <a:spcPts val="360"/>
              </a:spcBef>
              <a:buNone/>
            </a:pPr>
            <a:r>
              <a:rPr lang="en-US" sz="1296" kern="0" spc="144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TXT、PDF、DOCX、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 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常见格式文件的本地解析与存储，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针对中文优化了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切分策略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，尝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试过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Unstructured、</a:t>
            </a:r>
            <a:r>
              <a:rPr lang="en-US" sz="1296" kern="0" spc="144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 Recognizer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等付费文档解析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r>
              <a:rPr lang="en-US" sz="1296" kern="0" spc="144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最终基于 LangChain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文档加载器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文档文本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</a:t>
            </a:r>
            <a:r>
              <a:rPr lang="zh-CN" alt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</a:t>
            </a:r>
            <a:r>
              <a:rPr lang="en-US" sz="1296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</a:p>
          <a:p>
            <a:pPr marL="0" indent="0" latinLnBrk="1">
              <a:lnSpc>
                <a:spcPct val="106667"/>
              </a:lnSpc>
              <a:spcBef>
                <a:spcPts val="360"/>
              </a:spcBef>
              <a:buNone/>
            </a:pPr>
            <a:endParaRPr lang="en-US" sz="1296" kern="0" spc="144">
              <a:solidFill>
                <a:srgbClr val="0668DD"/>
              </a:solidFill>
              <a:latin typeface="Microsoft Yahei" pitchFamily="34" charset="0"/>
              <a:ea typeface="Microsoft Yahei" pitchFamily="34" charset="-122"/>
            </a:endParaRPr>
          </a:p>
          <a:p>
            <a:pPr marL="0" indent="0" latinLnBrk="1">
              <a:lnSpc>
                <a:spcPct val="106667"/>
              </a:lnSpc>
              <a:spcBef>
                <a:spcPts val="360"/>
              </a:spcBef>
              <a:buNone/>
            </a:pPr>
            <a:r>
              <a:rPr lang="zh-CN" altLang="en-US" sz="1440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</a:rPr>
              <a:t>基于</a:t>
            </a:r>
            <a:r>
              <a:rPr lang="en-US" altLang="zh-CN" sz="1440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</a:rPr>
              <a:t>Qdrant</a:t>
            </a:r>
            <a:r>
              <a:rPr lang="zh-CN" altLang="en-US" sz="1440" kern="0" spc="144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</a:rPr>
              <a:t>向量数据库完成向量存储和向量相似度匹配。</a:t>
            </a:r>
            <a:endParaRPr lang="en-US" sz="1296" kern="0" spc="144">
              <a:solidFill>
                <a:srgbClr val="0668DD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0E92313-A764-460B-BBAB-A2A6966E4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5" y="785794"/>
            <a:ext cx="5994807" cy="35719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466" y="136637"/>
            <a:ext cx="7782550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二、项目进展：基于知识库的多轮问答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90" y="310373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69574" y="2922422"/>
            <a:ext cx="4604852" cy="3931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endParaRPr lang="en-US" sz="144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8F0902-12C2-42B6-8769-90B4C4295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9522" y="686014"/>
            <a:ext cx="7116877" cy="377147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854423-871D-40EB-B409-10AB6CF857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7" y="686014"/>
            <a:ext cx="1715939" cy="37603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466" y="136637"/>
            <a:ext cx="1859742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kern="0" spc="7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当前待优化点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90" y="310373"/>
            <a:ext cx="25603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901424" y="1419299"/>
            <a:ext cx="841689" cy="841689"/>
          </a:xfrm>
          <a:custGeom>
            <a:avLst/>
            <a:gdLst/>
            <a:ahLst/>
            <a:cxnLst/>
            <a:rect l="l" t="t" r="r" b="b"/>
            <a:pathLst>
              <a:path w="841689" h="841689">
                <a:moveTo>
                  <a:pt x="420845" y="0"/>
                </a:moveTo>
                <a:moveTo>
                  <a:pt x="420845" y="0"/>
                </a:moveTo>
                <a:cubicBezTo>
                  <a:pt x="653115" y="0"/>
                  <a:pt x="841689" y="188574"/>
                  <a:pt x="841689" y="420845"/>
                </a:cubicBezTo>
                <a:cubicBezTo>
                  <a:pt x="841689" y="653115"/>
                  <a:pt x="653115" y="841689"/>
                  <a:pt x="420845" y="841689"/>
                </a:cubicBezTo>
                <a:cubicBezTo>
                  <a:pt x="188574" y="841689"/>
                  <a:pt x="0" y="653115"/>
                  <a:pt x="0" y="420845"/>
                </a:cubicBezTo>
                <a:cubicBezTo>
                  <a:pt x="0" y="188574"/>
                  <a:pt x="188574" y="0"/>
                  <a:pt x="420845" y="0"/>
                </a:cubicBezTo>
                <a:close/>
              </a:path>
            </a:pathLst>
          </a:custGeom>
          <a:solidFill>
            <a:srgbClr val="0668DD">
              <a:alpha val="6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3182822" y="2057735"/>
            <a:ext cx="2278893" cy="1612466"/>
          </a:xfrm>
          <a:custGeom>
            <a:avLst/>
            <a:gdLst/>
            <a:ahLst/>
            <a:cxnLst/>
            <a:rect l="l" t="t" r="r" b="b"/>
            <a:pathLst>
              <a:path w="2278893" h="2220339">
                <a:moveTo>
                  <a:pt x="569723" y="0"/>
                </a:moveTo>
                <a:moveTo>
                  <a:pt x="569723" y="0"/>
                </a:moveTo>
                <a:cubicBezTo>
                  <a:pt x="255284" y="0"/>
                  <a:pt x="0" y="497450"/>
                  <a:pt x="0" y="1110170"/>
                </a:cubicBezTo>
                <a:cubicBezTo>
                  <a:pt x="0" y="1722889"/>
                  <a:pt x="255284" y="2220339"/>
                  <a:pt x="569723" y="2220339"/>
                </a:cubicBezTo>
                <a:lnTo>
                  <a:pt x="1709170" y="2220339"/>
                </a:lnTo>
                <a:cubicBezTo>
                  <a:pt x="2023609" y="2220339"/>
                  <a:pt x="2278893" y="1722889"/>
                  <a:pt x="2278893" y="1110170"/>
                </a:cubicBezTo>
                <a:cubicBezTo>
                  <a:pt x="2278893" y="497450"/>
                  <a:pt x="2023609" y="0"/>
                  <a:pt x="1709170" y="0"/>
                </a:cubicBezTo>
                <a:lnTo>
                  <a:pt x="569723" y="0"/>
                </a:lnTo>
                <a:close/>
              </a:path>
            </a:pathLst>
          </a:custGeom>
          <a:solidFill>
            <a:srgbClr val="0668DD">
              <a:alpha val="10196"/>
            </a:srgbClr>
          </a:solidFill>
          <a:ln w="9525">
            <a:solidFill>
              <a:srgbClr val="0668DD">
                <a:alpha val="70196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331413" y="2057734"/>
            <a:ext cx="1981712" cy="583130"/>
          </a:xfrm>
          <a:custGeom>
            <a:avLst/>
            <a:gdLst/>
            <a:ahLst/>
            <a:cxnLst/>
            <a:rect l="l" t="t" r="r" b="b"/>
            <a:pathLst>
              <a:path w="1981712" h="583130">
                <a:moveTo>
                  <a:pt x="291565" y="0"/>
                </a:moveTo>
                <a:moveTo>
                  <a:pt x="291565" y="0"/>
                </a:moveTo>
                <a:lnTo>
                  <a:pt x="1690147" y="0"/>
                </a:lnTo>
                <a:quadBezTo>
                  <a:pt x="1981712" y="0"/>
                  <a:pt x="1981712" y="291565"/>
                </a:quadBezTo>
                <a:lnTo>
                  <a:pt x="1981712" y="291565"/>
                </a:lnTo>
                <a:quadBezTo>
                  <a:pt x="1981712" y="583130"/>
                  <a:pt x="1690147" y="583130"/>
                </a:quadBezTo>
                <a:lnTo>
                  <a:pt x="291565" y="583130"/>
                </a:lnTo>
                <a:quadBezTo>
                  <a:pt x="0" y="583130"/>
                  <a:pt x="0" y="291565"/>
                </a:quadBezTo>
                <a:lnTo>
                  <a:pt x="0" y="291565"/>
                </a:lnTo>
                <a:quadBezTo>
                  <a:pt x="0" y="0"/>
                  <a:pt x="291565" y="0"/>
                </a:quadBezTo>
                <a:close/>
              </a:path>
            </a:pathLst>
          </a:custGeom>
          <a:solidFill>
            <a:srgbClr val="0668DD"/>
          </a:solidFill>
          <a:ln/>
        </p:spPr>
      </p:sp>
      <p:sp>
        <p:nvSpPr>
          <p:cNvPr id="7" name="Text 4"/>
          <p:cNvSpPr/>
          <p:nvPr/>
        </p:nvSpPr>
        <p:spPr>
          <a:xfrm>
            <a:off x="3901424" y="1419299"/>
            <a:ext cx="841689" cy="7284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316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4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75" y="2980056"/>
            <a:ext cx="8645025" cy="1451437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898918" y="838221"/>
            <a:ext cx="841689" cy="841689"/>
          </a:xfrm>
          <a:custGeom>
            <a:avLst/>
            <a:gdLst/>
            <a:ahLst/>
            <a:cxnLst/>
            <a:rect l="l" t="t" r="r" b="b"/>
            <a:pathLst>
              <a:path w="841689" h="841689">
                <a:moveTo>
                  <a:pt x="420845" y="0"/>
                </a:moveTo>
                <a:moveTo>
                  <a:pt x="420845" y="0"/>
                </a:moveTo>
                <a:cubicBezTo>
                  <a:pt x="653115" y="0"/>
                  <a:pt x="841689" y="188574"/>
                  <a:pt x="841689" y="420845"/>
                </a:cubicBezTo>
                <a:cubicBezTo>
                  <a:pt x="841689" y="653115"/>
                  <a:pt x="653115" y="841689"/>
                  <a:pt x="420845" y="841689"/>
                </a:cubicBezTo>
                <a:cubicBezTo>
                  <a:pt x="188574" y="841689"/>
                  <a:pt x="0" y="653115"/>
                  <a:pt x="0" y="420845"/>
                </a:cubicBezTo>
                <a:cubicBezTo>
                  <a:pt x="0" y="188574"/>
                  <a:pt x="188574" y="0"/>
                  <a:pt x="420845" y="0"/>
                </a:cubicBezTo>
                <a:close/>
              </a:path>
            </a:pathLst>
          </a:custGeom>
          <a:solidFill>
            <a:srgbClr val="0668DD">
              <a:alpha val="60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6180317" y="1476656"/>
            <a:ext cx="2278893" cy="1549757"/>
          </a:xfrm>
          <a:custGeom>
            <a:avLst/>
            <a:gdLst/>
            <a:ahLst/>
            <a:cxnLst/>
            <a:rect l="l" t="t" r="r" b="b"/>
            <a:pathLst>
              <a:path w="2278893" h="2220339">
                <a:moveTo>
                  <a:pt x="569723" y="0"/>
                </a:moveTo>
                <a:moveTo>
                  <a:pt x="569723" y="0"/>
                </a:moveTo>
                <a:cubicBezTo>
                  <a:pt x="255284" y="0"/>
                  <a:pt x="0" y="497450"/>
                  <a:pt x="0" y="1110170"/>
                </a:cubicBezTo>
                <a:cubicBezTo>
                  <a:pt x="0" y="1722889"/>
                  <a:pt x="255284" y="2220339"/>
                  <a:pt x="569723" y="2220339"/>
                </a:cubicBezTo>
                <a:lnTo>
                  <a:pt x="1709170" y="2220339"/>
                </a:lnTo>
                <a:cubicBezTo>
                  <a:pt x="2023609" y="2220339"/>
                  <a:pt x="2278893" y="1722889"/>
                  <a:pt x="2278893" y="1110170"/>
                </a:cubicBezTo>
                <a:cubicBezTo>
                  <a:pt x="2278893" y="497450"/>
                  <a:pt x="2023609" y="0"/>
                  <a:pt x="1709170" y="0"/>
                </a:cubicBezTo>
                <a:lnTo>
                  <a:pt x="569723" y="0"/>
                </a:lnTo>
                <a:close/>
              </a:path>
            </a:pathLst>
          </a:custGeom>
          <a:solidFill>
            <a:srgbClr val="0668DD">
              <a:alpha val="10196"/>
            </a:srgbClr>
          </a:solidFill>
          <a:ln w="9525">
            <a:solidFill>
              <a:srgbClr val="0668DD">
                <a:alpha val="70196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28907" y="1476656"/>
            <a:ext cx="1981712" cy="583130"/>
          </a:xfrm>
          <a:custGeom>
            <a:avLst/>
            <a:gdLst/>
            <a:ahLst/>
            <a:cxnLst/>
            <a:rect l="l" t="t" r="r" b="b"/>
            <a:pathLst>
              <a:path w="1981712" h="583130">
                <a:moveTo>
                  <a:pt x="291565" y="0"/>
                </a:moveTo>
                <a:moveTo>
                  <a:pt x="291565" y="0"/>
                </a:moveTo>
                <a:lnTo>
                  <a:pt x="1690147" y="0"/>
                </a:lnTo>
                <a:quadBezTo>
                  <a:pt x="1981712" y="0"/>
                  <a:pt x="1981712" y="291565"/>
                </a:quadBezTo>
                <a:lnTo>
                  <a:pt x="1981712" y="291565"/>
                </a:lnTo>
                <a:quadBezTo>
                  <a:pt x="1981712" y="583130"/>
                  <a:pt x="1690147" y="583130"/>
                </a:quadBezTo>
                <a:lnTo>
                  <a:pt x="291565" y="583130"/>
                </a:lnTo>
                <a:quadBezTo>
                  <a:pt x="0" y="583130"/>
                  <a:pt x="0" y="291565"/>
                </a:quadBezTo>
                <a:lnTo>
                  <a:pt x="0" y="291565"/>
                </a:lnTo>
                <a:quadBezTo>
                  <a:pt x="0" y="0"/>
                  <a:pt x="291565" y="0"/>
                </a:quadBezTo>
                <a:close/>
              </a:path>
            </a:pathLst>
          </a:custGeom>
          <a:solidFill>
            <a:srgbClr val="0668DD"/>
          </a:solidFill>
          <a:ln/>
        </p:spPr>
      </p:sp>
      <p:sp>
        <p:nvSpPr>
          <p:cNvPr id="12" name="Text 8"/>
          <p:cNvSpPr/>
          <p:nvPr/>
        </p:nvSpPr>
        <p:spPr>
          <a:xfrm>
            <a:off x="6898918" y="838221"/>
            <a:ext cx="841689" cy="7284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316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1145869" y="1902888"/>
            <a:ext cx="841689" cy="841689"/>
          </a:xfrm>
          <a:custGeom>
            <a:avLst/>
            <a:gdLst/>
            <a:ahLst/>
            <a:cxnLst/>
            <a:rect l="l" t="t" r="r" b="b"/>
            <a:pathLst>
              <a:path w="841689" h="841689">
                <a:moveTo>
                  <a:pt x="420845" y="0"/>
                </a:moveTo>
                <a:moveTo>
                  <a:pt x="420845" y="0"/>
                </a:moveTo>
                <a:cubicBezTo>
                  <a:pt x="653115" y="0"/>
                  <a:pt x="841689" y="188574"/>
                  <a:pt x="841689" y="420845"/>
                </a:cubicBezTo>
                <a:cubicBezTo>
                  <a:pt x="841689" y="653115"/>
                  <a:pt x="653115" y="841689"/>
                  <a:pt x="420845" y="841689"/>
                </a:cubicBezTo>
                <a:cubicBezTo>
                  <a:pt x="188574" y="841689"/>
                  <a:pt x="0" y="653115"/>
                  <a:pt x="0" y="420845"/>
                </a:cubicBezTo>
                <a:cubicBezTo>
                  <a:pt x="0" y="188574"/>
                  <a:pt x="188574" y="0"/>
                  <a:pt x="420845" y="0"/>
                </a:cubicBezTo>
                <a:close/>
              </a:path>
            </a:pathLst>
          </a:custGeom>
          <a:solidFill>
            <a:srgbClr val="0668DD">
              <a:alpha val="60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445216" y="2668899"/>
            <a:ext cx="2278893" cy="1603623"/>
          </a:xfrm>
          <a:custGeom>
            <a:avLst/>
            <a:gdLst/>
            <a:ahLst/>
            <a:cxnLst/>
            <a:rect l="l" t="t" r="r" b="b"/>
            <a:pathLst>
              <a:path w="2278893" h="2220339">
                <a:moveTo>
                  <a:pt x="569723" y="0"/>
                </a:moveTo>
                <a:moveTo>
                  <a:pt x="569723" y="0"/>
                </a:moveTo>
                <a:cubicBezTo>
                  <a:pt x="255284" y="0"/>
                  <a:pt x="0" y="497450"/>
                  <a:pt x="0" y="1110170"/>
                </a:cubicBezTo>
                <a:cubicBezTo>
                  <a:pt x="0" y="1722889"/>
                  <a:pt x="255284" y="2220339"/>
                  <a:pt x="569723" y="2220339"/>
                </a:cubicBezTo>
                <a:lnTo>
                  <a:pt x="1709170" y="2220339"/>
                </a:lnTo>
                <a:cubicBezTo>
                  <a:pt x="2023609" y="2220339"/>
                  <a:pt x="2278893" y="1722889"/>
                  <a:pt x="2278893" y="1110170"/>
                </a:cubicBezTo>
                <a:cubicBezTo>
                  <a:pt x="2278893" y="497450"/>
                  <a:pt x="2023609" y="0"/>
                  <a:pt x="1709170" y="0"/>
                </a:cubicBezTo>
                <a:lnTo>
                  <a:pt x="569723" y="0"/>
                </a:lnTo>
                <a:close/>
              </a:path>
            </a:pathLst>
          </a:custGeom>
          <a:solidFill>
            <a:srgbClr val="0668DD">
              <a:alpha val="10196"/>
            </a:srgbClr>
          </a:solidFill>
          <a:ln w="9525">
            <a:solidFill>
              <a:srgbClr val="0668DD">
                <a:alpha val="70196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5858" y="2541323"/>
            <a:ext cx="1981712" cy="583130"/>
          </a:xfrm>
          <a:custGeom>
            <a:avLst/>
            <a:gdLst/>
            <a:ahLst/>
            <a:cxnLst/>
            <a:rect l="l" t="t" r="r" b="b"/>
            <a:pathLst>
              <a:path w="1981712" h="583130">
                <a:moveTo>
                  <a:pt x="291565" y="0"/>
                </a:moveTo>
                <a:moveTo>
                  <a:pt x="291565" y="0"/>
                </a:moveTo>
                <a:lnTo>
                  <a:pt x="1690147" y="0"/>
                </a:lnTo>
                <a:quadBezTo>
                  <a:pt x="1981712" y="0"/>
                  <a:pt x="1981712" y="291565"/>
                </a:quadBezTo>
                <a:lnTo>
                  <a:pt x="1981712" y="291565"/>
                </a:lnTo>
                <a:quadBezTo>
                  <a:pt x="1981712" y="583130"/>
                  <a:pt x="1690147" y="583130"/>
                </a:quadBezTo>
                <a:lnTo>
                  <a:pt x="291565" y="583130"/>
                </a:lnTo>
                <a:quadBezTo>
                  <a:pt x="0" y="583130"/>
                  <a:pt x="0" y="291565"/>
                </a:quadBezTo>
                <a:lnTo>
                  <a:pt x="0" y="291565"/>
                </a:lnTo>
                <a:quadBezTo>
                  <a:pt x="0" y="0"/>
                  <a:pt x="291565" y="0"/>
                </a:quadBezTo>
                <a:close/>
              </a:path>
            </a:pathLst>
          </a:custGeom>
          <a:solidFill>
            <a:srgbClr val="0668DD"/>
          </a:solidFill>
          <a:ln/>
        </p:spPr>
      </p:sp>
      <p:sp>
        <p:nvSpPr>
          <p:cNvPr id="16" name="Text 12"/>
          <p:cNvSpPr/>
          <p:nvPr/>
        </p:nvSpPr>
        <p:spPr>
          <a:xfrm>
            <a:off x="1145869" y="1902888"/>
            <a:ext cx="841689" cy="72840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16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r>
              <a:rPr lang="en-US" altLang="zh-CN" sz="3168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3331413" y="2166419"/>
            <a:ext cx="1981712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2222"/>
              </a:lnSpc>
              <a:spcBef>
                <a:spcPts val="360"/>
              </a:spcBef>
              <a:buNone/>
            </a:pPr>
            <a:r>
              <a:rPr lang="en-US" sz="1296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未实现配置界面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3235504" y="2669671"/>
            <a:ext cx="2173529" cy="62497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当前系统未实现配置界面，</a:t>
            </a:r>
          </a:p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影响用户个性化设置</a:t>
            </a: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6328907" y="1585341"/>
            <a:ext cx="1981712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2222"/>
              </a:lnSpc>
              <a:spcBef>
                <a:spcPts val="360"/>
              </a:spcBef>
              <a:buNone/>
            </a:pPr>
            <a:r>
              <a:rPr lang="en-US" sz="1296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r>
              <a:rPr lang="zh-CN" altLang="en-US" sz="1296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sz="1296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耦合问题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6232999" y="2088593"/>
            <a:ext cx="2173529" cy="57368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</a:t>
            </a:r>
            <a:r>
              <a:rPr lang="zh-CN" alt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应用存在代码</a:t>
            </a:r>
            <a:r>
              <a:rPr 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耦合度高</a:t>
            </a: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、分离不彻底的问题，需重构优化。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575858" y="2650008"/>
            <a:ext cx="1981712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 algn="ctr">
              <a:lnSpc>
                <a:spcPct val="102222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检索策略单一</a:t>
            </a:r>
            <a:endParaRPr lang="en-US" sz="1440" dirty="0"/>
          </a:p>
        </p:txBody>
      </p:sp>
      <p:sp>
        <p:nvSpPr>
          <p:cNvPr id="22" name="Text 18"/>
          <p:cNvSpPr/>
          <p:nvPr/>
        </p:nvSpPr>
        <p:spPr>
          <a:xfrm>
            <a:off x="479949" y="3153260"/>
            <a:ext cx="2296842" cy="77687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31429"/>
              </a:lnSpc>
              <a:spcBef>
                <a:spcPts val="360"/>
              </a:spcBef>
              <a:buNone/>
            </a:pPr>
            <a:r>
              <a:rPr 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当前检索策略单一，未实现</a:t>
            </a:r>
            <a:r>
              <a:rPr lang="zh-CN" alt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术语精准匹配</a:t>
            </a:r>
            <a:r>
              <a:rPr 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</a:t>
            </a:r>
            <a:r>
              <a:rPr lang="zh-CN" alt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</a:t>
            </a:r>
            <a:r>
              <a:rPr lang="en-US" sz="1008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排序，需进一步提升检索效果</a:t>
            </a:r>
            <a:r>
              <a:rPr lang="en-US" sz="1008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5704" y="2662478"/>
            <a:ext cx="4377751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2448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未来计划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3845602" y="1715051"/>
            <a:ext cx="790040" cy="790040"/>
          </a:xfrm>
          <a:custGeom>
            <a:avLst/>
            <a:gdLst/>
            <a:ahLst/>
            <a:cxnLst/>
            <a:rect l="l" t="t" r="r" b="b"/>
            <a:pathLst>
              <a:path w="790040" h="790040">
                <a:moveTo>
                  <a:pt x="98755" y="0"/>
                </a:moveTo>
                <a:moveTo>
                  <a:pt x="98755" y="0"/>
                </a:moveTo>
                <a:lnTo>
                  <a:pt x="691285" y="0"/>
                </a:lnTo>
                <a:quadBezTo>
                  <a:pt x="790040" y="0"/>
                  <a:pt x="790040" y="98755"/>
                </a:quadBezTo>
                <a:lnTo>
                  <a:pt x="790040" y="691285"/>
                </a:lnTo>
                <a:quadBezTo>
                  <a:pt x="790040" y="790040"/>
                  <a:pt x="691285" y="790040"/>
                </a:quadBezTo>
                <a:lnTo>
                  <a:pt x="98755" y="790040"/>
                </a:lnTo>
                <a:quadBezTo>
                  <a:pt x="0" y="790040"/>
                  <a:pt x="0" y="691285"/>
                </a:quadBezTo>
                <a:lnTo>
                  <a:pt x="0" y="98755"/>
                </a:lnTo>
                <a:quadBezTo>
                  <a:pt x="0" y="0"/>
                  <a:pt x="98755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127259" y="1715051"/>
            <a:ext cx="2214642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456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466" y="136637"/>
            <a:ext cx="7782550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三、未来计划：</a:t>
            </a:r>
            <a:r>
              <a:rPr 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核心技术迭代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90" y="310373"/>
            <a:ext cx="25603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10384" y="1315640"/>
            <a:ext cx="6108807" cy="3189636"/>
          </a:xfrm>
          <a:custGeom>
            <a:avLst/>
            <a:gdLst/>
            <a:ahLst/>
            <a:cxnLst/>
            <a:rect l="l" t="t" r="r" b="b"/>
            <a:pathLst>
              <a:path w="7243956" h="3189636">
                <a:moveTo>
                  <a:pt x="398705" y="0"/>
                </a:moveTo>
                <a:moveTo>
                  <a:pt x="398705" y="0"/>
                </a:moveTo>
                <a:lnTo>
                  <a:pt x="6845251" y="0"/>
                </a:lnTo>
                <a:quadBezTo>
                  <a:pt x="7243956" y="0"/>
                  <a:pt x="7243956" y="398705"/>
                </a:quadBezTo>
                <a:lnTo>
                  <a:pt x="7243956" y="2790932"/>
                </a:lnTo>
                <a:quadBezTo>
                  <a:pt x="7243956" y="3189636"/>
                  <a:pt x="6845251" y="3189636"/>
                </a:quadBezTo>
                <a:lnTo>
                  <a:pt x="398705" y="3189636"/>
                </a:lnTo>
                <a:quadBezTo>
                  <a:pt x="0" y="3189636"/>
                  <a:pt x="0" y="2790932"/>
                </a:quadBezTo>
                <a:lnTo>
                  <a:pt x="0" y="398705"/>
                </a:lnTo>
                <a:quadBezTo>
                  <a:pt x="0" y="0"/>
                  <a:pt x="398705" y="0"/>
                </a:quadBezTo>
                <a:close/>
              </a:path>
            </a:pathLst>
          </a:custGeom>
          <a:solidFill>
            <a:srgbClr val="0668DD">
              <a:alpha val="0"/>
            </a:srgbClr>
          </a:solidFill>
          <a:ln w="95250">
            <a:solidFill>
              <a:srgbClr val="0668DD">
                <a:alpha val="12157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6513" y="1093905"/>
            <a:ext cx="2152158" cy="3583954"/>
          </a:xfrm>
          <a:custGeom>
            <a:avLst/>
            <a:gdLst/>
            <a:ahLst/>
            <a:cxnLst/>
            <a:rect l="l" t="t" r="r" b="b"/>
            <a:pathLst>
              <a:path w="2152158" h="3583954">
                <a:moveTo>
                  <a:pt x="98930" y="0"/>
                </a:moveTo>
                <a:moveTo>
                  <a:pt x="98930" y="0"/>
                </a:moveTo>
                <a:lnTo>
                  <a:pt x="2053228" y="0"/>
                </a:lnTo>
                <a:quadBezTo>
                  <a:pt x="2152158" y="0"/>
                  <a:pt x="2152158" y="98930"/>
                </a:quadBezTo>
                <a:lnTo>
                  <a:pt x="2152158" y="3485024"/>
                </a:lnTo>
                <a:quadBezTo>
                  <a:pt x="2152158" y="3583954"/>
                  <a:pt x="2053228" y="3583954"/>
                </a:quadBezTo>
                <a:lnTo>
                  <a:pt x="98930" y="3583954"/>
                </a:lnTo>
                <a:quadBezTo>
                  <a:pt x="0" y="3583954"/>
                  <a:pt x="0" y="3485024"/>
                </a:quadBezTo>
                <a:lnTo>
                  <a:pt x="0" y="98930"/>
                </a:lnTo>
                <a:quadBezTo>
                  <a:pt x="0" y="0"/>
                  <a:pt x="98930" y="0"/>
                </a:quadBezTo>
                <a:close/>
              </a:path>
            </a:pathLst>
          </a:custGeom>
          <a:solidFill>
            <a:srgbClr val="0668D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7067" y="2040271"/>
            <a:ext cx="1714500" cy="4572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543" y="2040271"/>
            <a:ext cx="1714500" cy="4572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0019" y="2040271"/>
            <a:ext cx="1714500" cy="4572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847067" y="1628791"/>
            <a:ext cx="1926476" cy="37490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584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r>
              <a:rPr lang="en-US" sz="1584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混合检索</a:t>
            </a:r>
            <a:endParaRPr lang="en-US" sz="1440" dirty="0"/>
          </a:p>
        </p:txBody>
      </p:sp>
      <p:pic>
        <p:nvPicPr>
          <p:cNvPr id="10" name="Image 4" descr="https://sgw-dx.xf-yun.com/api/v1/sparkdesk/_17579882134119cde60f75feb4e9aa98818318fbd3386.jpg?authorization=c2ltcGxlLWp3dCBhaz1zcGFya2Rlc2s4MDAwMDAwMDAwMDE7ZXhwPTMzMzQ3ODgyMTM7YWxnbz1obWFjLXNoYTI1NjtzaWc9VnJYdWhMVzNnRDhyVjZmMXZjdENCTW42QWd2dTgxNWFzckZEYWdnNnlUTT0=&amp;x_location=7YfmxI7B7uKO7jlRxIftd6UaeXD="/>
          <p:cNvPicPr>
            <a:picLocks noChangeAspect="1"/>
          </p:cNvPicPr>
          <p:nvPr/>
        </p:nvPicPr>
        <p:blipFill>
          <a:blip r:embed="rId6"/>
          <a:srcRect l="20000" r="20000"/>
          <a:stretch/>
        </p:blipFill>
        <p:spPr>
          <a:xfrm>
            <a:off x="324809" y="1194860"/>
            <a:ext cx="2019023" cy="336211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847067" y="2333760"/>
            <a:ext cx="1645920" cy="17190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融合关键词检索（精准匹配专业术语）与向量检索（语义相似匹配），针对核工业领域专业术语多、概念严谨的特点，优化检索召回率。</a:t>
            </a:r>
            <a:endParaRPr lang="en-US" sz="1440" dirty="0"/>
          </a:p>
        </p:txBody>
      </p:sp>
      <p:sp>
        <p:nvSpPr>
          <p:cNvPr id="12" name="Text 5"/>
          <p:cNvSpPr/>
          <p:nvPr/>
        </p:nvSpPr>
        <p:spPr>
          <a:xfrm>
            <a:off x="4773543" y="1628791"/>
            <a:ext cx="1926476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584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</a:t>
            </a:r>
            <a:r>
              <a:rPr lang="en-US" sz="1584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重排序机制</a:t>
            </a:r>
            <a:endParaRPr lang="en-US" sz="1440" dirty="0"/>
          </a:p>
        </p:txBody>
      </p:sp>
      <p:sp>
        <p:nvSpPr>
          <p:cNvPr id="13" name="Text 6"/>
          <p:cNvSpPr/>
          <p:nvPr/>
        </p:nvSpPr>
        <p:spPr>
          <a:xfrm>
            <a:off x="4773543" y="2333760"/>
            <a:ext cx="1645920" cy="14996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基于核工业知识相关性</a:t>
            </a:r>
            <a:r>
              <a:rPr 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</a:t>
            </a:r>
            <a:r>
              <a:rPr lang="zh-CN" alt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</a:t>
            </a:r>
            <a:r>
              <a:rPr 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术语、</a:t>
            </a:r>
            <a:r>
              <a:rPr lang="en-US" sz="115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文档权威性）、用户交互反馈</a:t>
            </a:r>
            <a:r>
              <a:rPr 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（如历史</a:t>
            </a:r>
            <a:r>
              <a:rPr lang="zh-CN" alt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r>
              <a:rPr 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），</a:t>
            </a:r>
            <a:r>
              <a:rPr lang="zh-CN" alt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</a:t>
            </a:r>
            <a:r>
              <a:rPr 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重排序模型</a:t>
            </a:r>
            <a:r>
              <a:rPr lang="en-US" sz="115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，提升检索结果精准度。</a:t>
            </a:r>
            <a:endParaRPr lang="en-US" sz="1440" dirty="0"/>
          </a:p>
        </p:txBody>
      </p:sp>
      <p:sp>
        <p:nvSpPr>
          <p:cNvPr id="14" name="Text 7"/>
          <p:cNvSpPr/>
          <p:nvPr/>
        </p:nvSpPr>
        <p:spPr>
          <a:xfrm>
            <a:off x="6700019" y="1628791"/>
            <a:ext cx="1934824" cy="3474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584" b="1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测试验证</a:t>
            </a:r>
            <a:endParaRPr lang="en-US" sz="1440" dirty="0"/>
          </a:p>
        </p:txBody>
      </p:sp>
      <p:sp>
        <p:nvSpPr>
          <p:cNvPr id="15" name="Text 8"/>
          <p:cNvSpPr/>
          <p:nvPr/>
        </p:nvSpPr>
        <p:spPr>
          <a:xfrm>
            <a:off x="6700019" y="2333760"/>
            <a:ext cx="1645920" cy="10206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搭建核工业专业测试数据集，</a:t>
            </a:r>
            <a:r>
              <a:rPr lang="en-US" sz="115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对比优化前后的检索准确率、问答匹配度，迭代调整参数。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466" y="136637"/>
            <a:ext cx="7782550" cy="53072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20000"/>
              </a:lnSpc>
              <a:spcBef>
                <a:spcPts val="360"/>
              </a:spcBef>
              <a:buNone/>
            </a:pP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三、未来计划：</a:t>
            </a:r>
            <a:r>
              <a:rPr 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结构优化</a:t>
            </a:r>
            <a:r>
              <a:rPr lang="zh-CN" altLang="en-US" sz="2016" b="1" kern="0" spc="72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、功能扩展</a:t>
            </a:r>
            <a:endParaRPr lang="en-US" sz="144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90" y="310373"/>
            <a:ext cx="256032" cy="25603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859" y="2163796"/>
            <a:ext cx="1950182" cy="2207440"/>
          </a:xfrm>
          <a:custGeom>
            <a:avLst/>
            <a:gdLst/>
            <a:ahLst/>
            <a:cxnLst/>
            <a:rect l="l" t="t" r="r" b="b"/>
            <a:pathLst>
              <a:path w="1950182" h="2207440">
                <a:moveTo>
                  <a:pt x="0" y="0"/>
                </a:moveTo>
                <a:moveTo>
                  <a:pt x="0" y="0"/>
                </a:moveTo>
                <a:lnTo>
                  <a:pt x="1950182" y="0"/>
                </a:lnTo>
                <a:lnTo>
                  <a:pt x="1950182" y="2207440"/>
                </a:lnTo>
                <a:lnTo>
                  <a:pt x="0" y="2207440"/>
                </a:lnTo>
                <a:close/>
              </a:path>
            </a:pathLst>
          </a:custGeom>
          <a:solidFill>
            <a:srgbClr val="0668DD"/>
          </a:solidFill>
          <a:ln/>
        </p:spPr>
      </p:sp>
      <p:sp>
        <p:nvSpPr>
          <p:cNvPr id="5" name="Shape 2"/>
          <p:cNvSpPr/>
          <p:nvPr/>
        </p:nvSpPr>
        <p:spPr>
          <a:xfrm>
            <a:off x="2140110" y="1683803"/>
            <a:ext cx="1950182" cy="2687432"/>
          </a:xfrm>
          <a:custGeom>
            <a:avLst/>
            <a:gdLst/>
            <a:ahLst/>
            <a:cxnLst/>
            <a:rect l="l" t="t" r="r" b="b"/>
            <a:pathLst>
              <a:path w="1950182" h="2687432">
                <a:moveTo>
                  <a:pt x="0" y="0"/>
                </a:moveTo>
                <a:moveTo>
                  <a:pt x="0" y="0"/>
                </a:moveTo>
                <a:lnTo>
                  <a:pt x="1950182" y="0"/>
                </a:lnTo>
                <a:lnTo>
                  <a:pt x="1950182" y="2687432"/>
                </a:lnTo>
                <a:lnTo>
                  <a:pt x="0" y="2687432"/>
                </a:lnTo>
                <a:close/>
              </a:path>
            </a:pathLst>
          </a:custGeom>
          <a:solidFill>
            <a:srgbClr val="0668DD"/>
          </a:solidFill>
          <a:ln/>
        </p:spPr>
      </p:sp>
      <p:sp>
        <p:nvSpPr>
          <p:cNvPr id="6" name="Shape 3"/>
          <p:cNvSpPr/>
          <p:nvPr/>
        </p:nvSpPr>
        <p:spPr>
          <a:xfrm>
            <a:off x="4175360" y="1136603"/>
            <a:ext cx="1950308" cy="3234633"/>
          </a:xfrm>
          <a:custGeom>
            <a:avLst/>
            <a:gdLst/>
            <a:ahLst/>
            <a:cxnLst/>
            <a:rect l="l" t="t" r="r" b="b"/>
            <a:pathLst>
              <a:path w="1950308" h="3234633">
                <a:moveTo>
                  <a:pt x="0" y="0"/>
                </a:moveTo>
                <a:moveTo>
                  <a:pt x="0" y="0"/>
                </a:moveTo>
                <a:lnTo>
                  <a:pt x="1950308" y="0"/>
                </a:lnTo>
                <a:lnTo>
                  <a:pt x="1950308" y="3234633"/>
                </a:lnTo>
                <a:lnTo>
                  <a:pt x="0" y="3234633"/>
                </a:lnTo>
                <a:close/>
              </a:path>
            </a:pathLst>
          </a:custGeom>
          <a:solidFill>
            <a:srgbClr val="0668DD"/>
          </a:solidFill>
          <a:ln/>
        </p:spPr>
      </p:sp>
      <p:sp>
        <p:nvSpPr>
          <p:cNvPr id="7" name="Text 4"/>
          <p:cNvSpPr/>
          <p:nvPr/>
        </p:nvSpPr>
        <p:spPr>
          <a:xfrm>
            <a:off x="104859" y="2163797"/>
            <a:ext cx="1950182" cy="4861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项目结构优化</a:t>
            </a:r>
            <a:endParaRPr lang="en-US" sz="1440" dirty="0"/>
          </a:p>
        </p:txBody>
      </p:sp>
      <p:sp>
        <p:nvSpPr>
          <p:cNvPr id="9" name="Text 5"/>
          <p:cNvSpPr/>
          <p:nvPr/>
        </p:nvSpPr>
        <p:spPr>
          <a:xfrm>
            <a:off x="104859" y="2873991"/>
            <a:ext cx="1894447" cy="15991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 Web</a:t>
            </a:r>
            <a:r>
              <a:rPr lang="zh-CN" altLang="en-US" sz="115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</a:t>
            </a:r>
            <a:r>
              <a:rPr lang="en-US" sz="115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架构：</a:t>
            </a:r>
            <a:r>
              <a:rPr lang="zh-CN" altLang="en-US" sz="115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r>
              <a:rPr lang="en-US" sz="1152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拆分前端</a:t>
            </a:r>
            <a:r>
              <a:rPr lang="en-US" sz="115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（Streamlit 负责可视化交互）与后端（封装 API 接口，处理文件解析、检索、LLM 调用逻辑），通过接口通信降低耦合度。</a:t>
            </a:r>
            <a:endParaRPr lang="en-US" sz="1440" dirty="0"/>
          </a:p>
        </p:txBody>
      </p:sp>
      <p:sp>
        <p:nvSpPr>
          <p:cNvPr id="10" name="Text 6"/>
          <p:cNvSpPr/>
          <p:nvPr/>
        </p:nvSpPr>
        <p:spPr>
          <a:xfrm>
            <a:off x="2140110" y="1938528"/>
            <a:ext cx="1950182" cy="39992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58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模块化拆分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2140110" y="2649914"/>
            <a:ext cx="1950182" cy="123444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将项目拆分为 “文件解析模块”“检索模块”“LLM 交互模块”“Web 前端模块”“数据持久化模块”，明确模块间依赖关系。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4175423" y="1347803"/>
            <a:ext cx="1950182" cy="56024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584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r>
              <a:rPr lang="zh-CN" altLang="en-US" sz="1584" b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4175360" y="2261019"/>
            <a:ext cx="1950182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15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针对后端接口响应速度、前端加载效率进行测试，优化文件解析异步处理逻辑，减少用户等待时间。</a:t>
            </a:r>
            <a:endParaRPr lang="en-US" sz="144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6F82F4EE-63DE-49AF-9B88-FD576C2DEFD0}"/>
              </a:ext>
            </a:extLst>
          </p:cNvPr>
          <p:cNvSpPr/>
          <p:nvPr/>
        </p:nvSpPr>
        <p:spPr>
          <a:xfrm>
            <a:off x="6256990" y="933302"/>
            <a:ext cx="663383" cy="6790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4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A15ADD82-621B-4943-8042-5310B3651246}"/>
              </a:ext>
            </a:extLst>
          </p:cNvPr>
          <p:cNvSpPr/>
          <p:nvPr/>
        </p:nvSpPr>
        <p:spPr>
          <a:xfrm>
            <a:off x="6351449" y="2305817"/>
            <a:ext cx="637159" cy="6790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1DA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4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244C66B1-BD17-406A-8A92-2828018D97A7}"/>
              </a:ext>
            </a:extLst>
          </p:cNvPr>
          <p:cNvSpPr/>
          <p:nvPr/>
        </p:nvSpPr>
        <p:spPr>
          <a:xfrm>
            <a:off x="6796797" y="1047033"/>
            <a:ext cx="1936454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066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补充文件解析范围</a:t>
            </a:r>
            <a:endParaRPr lang="en-US" sz="144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E1221FEC-E576-4472-8887-1A52BDF34DE4}"/>
              </a:ext>
            </a:extLst>
          </p:cNvPr>
          <p:cNvSpPr/>
          <p:nvPr/>
        </p:nvSpPr>
        <p:spPr>
          <a:xfrm>
            <a:off x="6351576" y="1512740"/>
            <a:ext cx="2437017" cy="80791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just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按计划实现 CSV、HTML 文件解析，适配核工业领域可能的表格数据（CSV）、网页资料（HTML）。</a:t>
            </a:r>
            <a:endParaRPr lang="en-US" sz="144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4AC9E6EB-1C0C-49B5-A061-9D6413231BD5}"/>
              </a:ext>
            </a:extLst>
          </p:cNvPr>
          <p:cNvSpPr/>
          <p:nvPr/>
        </p:nvSpPr>
        <p:spPr>
          <a:xfrm>
            <a:off x="6988608" y="2428723"/>
            <a:ext cx="1689301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>
              <a:lnSpc>
                <a:spcPct val="100000"/>
              </a:lnSpc>
              <a:spcBef>
                <a:spcPts val="360"/>
              </a:spcBef>
              <a:buNone/>
            </a:pPr>
            <a:r>
              <a:rPr lang="zh-CN" altLang="en-US" sz="1728" b="1">
                <a:solidFill>
                  <a:srgbClr val="1DA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</a:t>
            </a:r>
            <a:r>
              <a:rPr lang="en-US" sz="1728" b="1">
                <a:solidFill>
                  <a:srgbClr val="1DA5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配置界面</a:t>
            </a:r>
            <a:endParaRPr lang="en-US" sz="144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AC9CB33-48C8-4185-8F5F-B56BBBEAD1CB}"/>
              </a:ext>
            </a:extLst>
          </p:cNvPr>
          <p:cNvSpPr/>
          <p:nvPr/>
        </p:nvSpPr>
        <p:spPr>
          <a:xfrm>
            <a:off x="6408712" y="3075803"/>
            <a:ext cx="2604206" cy="10206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just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00070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增加检索策略选择（如混合检索/单一检索）、LLM 模型切换、切分 chunk 大小自定义等功能，提升用户个性化体验。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9740" y="1982924"/>
            <a:ext cx="3603325" cy="1060704"/>
          </a:xfrm>
          <a:prstGeom prst="rect">
            <a:avLst/>
          </a:prstGeom>
          <a:noFill/>
          <a:ln/>
          <a:effectLst>
            <a:outerShdw blurRad="19050" dist="38100" dir="2700000" algn="bl" rotWithShape="0">
              <a:srgbClr val="0668DD">
                <a:alpha val="63922"/>
              </a:srgbClr>
            </a:outerShdw>
          </a:effectLst>
        </p:spPr>
        <p:txBody>
          <a:bodyPr wrap="square" lIns="91440" tIns="91440" rIns="91440" bIns="91440" rtlCol="0" anchor="t">
            <a:spAutoFit/>
          </a:bodyPr>
          <a:lstStyle/>
          <a:p>
            <a:pPr marL="0" indent="0" algn="ctr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4608" b="1" kern="0" spc="144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751</Words>
  <Application>Microsoft Office PowerPoint</Application>
  <PresentationFormat>全屏显示(16:9)</PresentationFormat>
  <Paragraphs>83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徐 远达</cp:lastModifiedBy>
  <cp:revision>78</cp:revision>
  <dcterms:created xsi:type="dcterms:W3CDTF">2025-09-16T02:06:24Z</dcterms:created>
  <dcterms:modified xsi:type="dcterms:W3CDTF">2025-09-23T01:35:35Z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{"ContentPropagator":"001191340000711771143J00000","Label":"1","ReservedCode1":"1757988385581","ProduceID":"zhiwen-pptx-175117221405147","ReservedCode2":"1757988385581","PropagateID":"zhiwen-pptx-175117221405147","ContentProducer":"001191340000711771143J00000"}</vt:lpwstr>
  </property>
</Properties>
</file>